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5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966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A623"/>
          </a:solidFill>
          <a:ln w="12700">
            <a:solidFill>
              <a:srgbClr val="F5A623"/>
            </a:solidFill>
            <a:prstDash val="solid"/>
          </a:ln>
        </p:spPr>
      </p:sp>
      <p:sp>
        <p:nvSpPr>
          <p:cNvPr id="3" name="Shape 1"/>
          <p:cNvSpPr/>
          <p:nvPr/>
        </p:nvSpPr>
        <p:spPr>
          <a:xfrm>
            <a:off x="6035040" y="0"/>
            <a:ext cx="3108960" cy="5143500"/>
          </a:xfrm>
          <a:prstGeom prst="rect">
            <a:avLst/>
          </a:prstGeom>
          <a:solidFill>
            <a:srgbClr val="12203A"/>
          </a:solidFill>
          <a:ln w="12700">
            <a:solidFill>
              <a:srgbClr val="12203A"/>
            </a:solidFill>
            <a:prstDash val="solid"/>
          </a:ln>
        </p:spPr>
      </p:sp>
      <p:sp>
        <p:nvSpPr>
          <p:cNvPr id="4" name="Text 2"/>
          <p:cNvSpPr/>
          <p:nvPr/>
        </p:nvSpPr>
        <p:spPr>
          <a:xfrm>
            <a:off x="228600" y="292608"/>
            <a:ext cx="5577840" cy="594360"/>
          </a:xfrm>
          <a:prstGeom prst="rect">
            <a:avLst/>
          </a:prstGeom>
          <a:noFill/>
          <a:ln/>
        </p:spPr>
        <p:txBody>
          <a:bodyPr wrap="square" rtlCol="0" anchor="ctr"/>
          <a:lstStyle/>
          <a:p>
            <a:pPr marL="0" indent="0">
              <a:buNone/>
            </a:pPr>
            <a:r>
              <a:rPr lang="en-US" sz="1300" b="1" dirty="0">
                <a:solidFill>
                  <a:srgbClr val="F5A623"/>
                </a:solidFill>
              </a:rPr>
              <a:t>Assignment 2
</a:t>
            </a:r>
            <a:r>
              <a:rPr lang="en-US" sz="1300" dirty="0">
                <a:solidFill>
                  <a:srgbClr val="F5A623"/>
                </a:solidFill>
              </a:rPr>
              <a:t>Phạm Trần Gia Hưng – 2331200153</a:t>
            </a:r>
            <a:endParaRPr lang="en-US" sz="1300" dirty="0"/>
          </a:p>
        </p:txBody>
      </p:sp>
      <p:sp>
        <p:nvSpPr>
          <p:cNvPr id="5" name="Shape 3"/>
          <p:cNvSpPr/>
          <p:nvPr/>
        </p:nvSpPr>
        <p:spPr>
          <a:xfrm>
            <a:off x="228600" y="2880360"/>
            <a:ext cx="5577840" cy="41148"/>
          </a:xfrm>
          <a:prstGeom prst="rect">
            <a:avLst/>
          </a:prstGeom>
          <a:solidFill>
            <a:srgbClr val="F5A623"/>
          </a:solidFill>
          <a:ln w="12700">
            <a:solidFill>
              <a:srgbClr val="F5A623"/>
            </a:solidFill>
            <a:prstDash val="solid"/>
          </a:ln>
        </p:spPr>
      </p:sp>
      <p:sp>
        <p:nvSpPr>
          <p:cNvPr id="6" name="Text 4"/>
          <p:cNvSpPr/>
          <p:nvPr/>
        </p:nvSpPr>
        <p:spPr>
          <a:xfrm>
            <a:off x="228600" y="1005840"/>
            <a:ext cx="5577840" cy="1783080"/>
          </a:xfrm>
          <a:prstGeom prst="rect">
            <a:avLst/>
          </a:prstGeom>
          <a:noFill/>
          <a:ln/>
        </p:spPr>
        <p:txBody>
          <a:bodyPr wrap="square" rtlCol="0" anchor="b"/>
          <a:lstStyle/>
          <a:p>
            <a:pPr marL="0" indent="0">
              <a:buNone/>
            </a:pPr>
            <a:r>
              <a:rPr lang="en-US" sz="3400" b="1" dirty="0">
                <a:solidFill>
                  <a:srgbClr val="FFFFFF"/>
                </a:solidFill>
              </a:rPr>
              <a:t>Launching, Load Balancing</a:t>
            </a:r>
            <a:endParaRPr lang="en-US" sz="3400" dirty="0"/>
          </a:p>
          <a:p>
            <a:pPr marL="0" indent="0">
              <a:buNone/>
            </a:pPr>
            <a:r>
              <a:rPr lang="en-US" sz="3400" b="1" dirty="0">
                <a:solidFill>
                  <a:srgbClr val="FFFFFF"/>
                </a:solidFill>
              </a:rPr>
              <a:t>&amp; Scaling on AWS EC2</a:t>
            </a:r>
            <a:endParaRPr lang="en-US" sz="3400" dirty="0"/>
          </a:p>
        </p:txBody>
      </p:sp>
      <p:sp>
        <p:nvSpPr>
          <p:cNvPr id="7" name="Text 5"/>
          <p:cNvSpPr/>
          <p:nvPr/>
        </p:nvSpPr>
        <p:spPr>
          <a:xfrm>
            <a:off x="228600" y="2999232"/>
            <a:ext cx="5577840" cy="365760"/>
          </a:xfrm>
          <a:prstGeom prst="rect">
            <a:avLst/>
          </a:prstGeom>
          <a:noFill/>
          <a:ln/>
        </p:spPr>
        <p:txBody>
          <a:bodyPr wrap="square" rtlCol="0" anchor="ctr"/>
          <a:lstStyle/>
          <a:p>
            <a:pPr marL="0" indent="0">
              <a:buNone/>
            </a:pPr>
            <a:r>
              <a:rPr lang="en-US" sz="1200" b="1" dirty="0">
                <a:solidFill>
                  <a:srgbClr val="F5A623"/>
                </a:solidFill>
              </a:rPr>
              <a:t>Course: </a:t>
            </a:r>
            <a:r>
              <a:rPr lang="en-US" sz="1200" dirty="0">
                <a:solidFill>
                  <a:srgbClr val="AABBCC"/>
                </a:solidFill>
              </a:rPr>
              <a:t>Cloud Computing   |   </a:t>
            </a:r>
            <a:r>
              <a:rPr lang="en-US" sz="1200" b="1" dirty="0">
                <a:solidFill>
                  <a:srgbClr val="F5A623"/>
                </a:solidFill>
              </a:rPr>
              <a:t>Lecturer: </a:t>
            </a:r>
            <a:r>
              <a:rPr lang="en-US" sz="1200" dirty="0">
                <a:solidFill>
                  <a:srgbClr val="AABBCC"/>
                </a:solidFill>
              </a:rPr>
              <a:t>Rohit Kumar Kasera</a:t>
            </a:r>
            <a:endParaRPr lang="en-US" sz="1200" dirty="0"/>
          </a:p>
        </p:txBody>
      </p:sp>
      <p:sp>
        <p:nvSpPr>
          <p:cNvPr id="8" name="Text 6"/>
          <p:cNvSpPr/>
          <p:nvPr/>
        </p:nvSpPr>
        <p:spPr>
          <a:xfrm>
            <a:off x="6126480" y="1371600"/>
            <a:ext cx="2834640" cy="1463040"/>
          </a:xfrm>
          <a:prstGeom prst="rect">
            <a:avLst/>
          </a:prstGeom>
          <a:noFill/>
          <a:ln/>
        </p:spPr>
        <p:txBody>
          <a:bodyPr wrap="square" rtlCol="0" anchor="ctr"/>
          <a:lstStyle/>
          <a:p>
            <a:pPr marL="0" indent="0" algn="ctr">
              <a:buNone/>
            </a:pPr>
            <a:r>
              <a:rPr lang="en-US" sz="7200" b="1" dirty="0">
                <a:solidFill>
                  <a:srgbClr val="F5A623"/>
                </a:solidFill>
              </a:rPr>
              <a:t>AWS</a:t>
            </a:r>
            <a:endParaRPr lang="en-US" sz="7200" dirty="0"/>
          </a:p>
        </p:txBody>
      </p:sp>
      <p:sp>
        <p:nvSpPr>
          <p:cNvPr id="9" name="Text 7"/>
          <p:cNvSpPr/>
          <p:nvPr/>
        </p:nvSpPr>
        <p:spPr>
          <a:xfrm>
            <a:off x="6126480" y="2880360"/>
            <a:ext cx="2834640" cy="365760"/>
          </a:xfrm>
          <a:prstGeom prst="rect">
            <a:avLst/>
          </a:prstGeom>
          <a:noFill/>
          <a:ln/>
        </p:spPr>
        <p:txBody>
          <a:bodyPr wrap="square" rtlCol="0" anchor="ctr"/>
          <a:lstStyle/>
          <a:p>
            <a:pPr marL="0" indent="0" algn="ctr">
              <a:buNone/>
            </a:pPr>
            <a:r>
              <a:rPr lang="en-US" sz="1200" dirty="0">
                <a:solidFill>
                  <a:srgbClr val="8899AA"/>
                </a:solidFill>
              </a:rPr>
              <a:t>Amazon Web Services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Assignment Overview</a:t>
            </a:r>
            <a:endParaRPr lang="en-US" sz="2200" dirty="0"/>
          </a:p>
        </p:txBody>
      </p:sp>
      <p:sp>
        <p:nvSpPr>
          <p:cNvPr id="5" name="Shape 3"/>
          <p:cNvSpPr/>
          <p:nvPr/>
        </p:nvSpPr>
        <p:spPr>
          <a:xfrm>
            <a:off x="228600" y="914400"/>
            <a:ext cx="4206240" cy="1691640"/>
          </a:xfrm>
          <a:prstGeom prst="rect">
            <a:avLst/>
          </a:prstGeom>
          <a:solidFill>
            <a:srgbClr val="FFFFFF"/>
          </a:solidFill>
          <a:ln/>
          <a:effectLst>
            <a:outerShdw blurRad="101600" dist="25400" dir="8100000" algn="bl" rotWithShape="0">
              <a:srgbClr val="000000">
                <a:alpha val="10000"/>
              </a:srgbClr>
            </a:outerShdw>
          </a:effectLst>
        </p:spPr>
      </p:sp>
      <p:sp>
        <p:nvSpPr>
          <p:cNvPr id="6" name="Shape 4"/>
          <p:cNvSpPr/>
          <p:nvPr/>
        </p:nvSpPr>
        <p:spPr>
          <a:xfrm>
            <a:off x="228600" y="914400"/>
            <a:ext cx="109728" cy="1691640"/>
          </a:xfrm>
          <a:prstGeom prst="rect">
            <a:avLst/>
          </a:prstGeom>
          <a:solidFill>
            <a:srgbClr val="1A6496"/>
          </a:solidFill>
          <a:ln w="12700">
            <a:solidFill>
              <a:srgbClr val="1A6496"/>
            </a:solidFill>
            <a:prstDash val="solid"/>
          </a:ln>
        </p:spPr>
      </p:sp>
      <p:sp>
        <p:nvSpPr>
          <p:cNvPr id="7" name="Text 5"/>
          <p:cNvSpPr/>
          <p:nvPr/>
        </p:nvSpPr>
        <p:spPr>
          <a:xfrm>
            <a:off x="411480" y="1051560"/>
            <a:ext cx="3931920" cy="365760"/>
          </a:xfrm>
          <a:prstGeom prst="rect">
            <a:avLst/>
          </a:prstGeom>
          <a:noFill/>
          <a:ln/>
        </p:spPr>
        <p:txBody>
          <a:bodyPr wrap="square" rtlCol="0" anchor="ctr"/>
          <a:lstStyle/>
          <a:p>
            <a:pPr marL="0" indent="0">
              <a:buNone/>
            </a:pPr>
            <a:r>
              <a:rPr lang="en-US" sz="1500" b="1" dirty="0">
                <a:solidFill>
                  <a:srgbClr val="1A6496"/>
                </a:solidFill>
              </a:rPr>
              <a:t>Task 1</a:t>
            </a:r>
            <a:endParaRPr lang="en-US" sz="1500" dirty="0"/>
          </a:p>
        </p:txBody>
      </p:sp>
      <p:sp>
        <p:nvSpPr>
          <p:cNvPr id="8" name="Text 6"/>
          <p:cNvSpPr/>
          <p:nvPr/>
        </p:nvSpPr>
        <p:spPr>
          <a:xfrm>
            <a:off x="411480" y="1444752"/>
            <a:ext cx="3840480" cy="914400"/>
          </a:xfrm>
          <a:prstGeom prst="rect">
            <a:avLst/>
          </a:prstGeom>
          <a:noFill/>
          <a:ln/>
        </p:spPr>
        <p:txBody>
          <a:bodyPr wrap="square" rtlCol="0" anchor="ctr"/>
          <a:lstStyle/>
          <a:p>
            <a:pPr marL="0" indent="0">
              <a:buNone/>
            </a:pPr>
            <a:r>
              <a:rPr lang="en-US" sz="1300" dirty="0">
                <a:solidFill>
                  <a:srgbClr val="1C2B4A"/>
                </a:solidFill>
              </a:rPr>
              <a:t>Launch an EC2 Instance</a:t>
            </a:r>
            <a:endParaRPr lang="en-US" sz="1300" dirty="0"/>
          </a:p>
          <a:p>
            <a:pPr marL="0" indent="0">
              <a:buNone/>
            </a:pPr>
            <a:r>
              <a:rPr lang="en-US" sz="1300" dirty="0">
                <a:solidFill>
                  <a:srgbClr val="1C2B4A"/>
                </a:solidFill>
              </a:rPr>
              <a:t>via AWS Console</a:t>
            </a:r>
            <a:endParaRPr lang="en-US" sz="1300" dirty="0"/>
          </a:p>
        </p:txBody>
      </p:sp>
      <p:sp>
        <p:nvSpPr>
          <p:cNvPr id="9" name="Shape 7"/>
          <p:cNvSpPr/>
          <p:nvPr/>
        </p:nvSpPr>
        <p:spPr>
          <a:xfrm>
            <a:off x="4709160" y="914400"/>
            <a:ext cx="4206240" cy="1691640"/>
          </a:xfrm>
          <a:prstGeom prst="rect">
            <a:avLst/>
          </a:prstGeom>
          <a:solidFill>
            <a:srgbClr val="FFFFFF"/>
          </a:solidFill>
          <a:ln/>
          <a:effectLst>
            <a:outerShdw blurRad="101600" dist="25400" dir="8100000" algn="bl" rotWithShape="0">
              <a:srgbClr val="000000">
                <a:alpha val="10000"/>
              </a:srgbClr>
            </a:outerShdw>
          </a:effectLst>
        </p:spPr>
      </p:sp>
      <p:sp>
        <p:nvSpPr>
          <p:cNvPr id="10" name="Shape 8"/>
          <p:cNvSpPr/>
          <p:nvPr/>
        </p:nvSpPr>
        <p:spPr>
          <a:xfrm>
            <a:off x="4709160" y="914400"/>
            <a:ext cx="109728" cy="1691640"/>
          </a:xfrm>
          <a:prstGeom prst="rect">
            <a:avLst/>
          </a:prstGeom>
          <a:solidFill>
            <a:srgbClr val="1A7A4A"/>
          </a:solidFill>
          <a:ln w="12700">
            <a:solidFill>
              <a:srgbClr val="1A7A4A"/>
            </a:solidFill>
            <a:prstDash val="solid"/>
          </a:ln>
        </p:spPr>
      </p:sp>
      <p:sp>
        <p:nvSpPr>
          <p:cNvPr id="11" name="Text 9"/>
          <p:cNvSpPr/>
          <p:nvPr/>
        </p:nvSpPr>
        <p:spPr>
          <a:xfrm>
            <a:off x="4892040" y="1051560"/>
            <a:ext cx="3931920" cy="365760"/>
          </a:xfrm>
          <a:prstGeom prst="rect">
            <a:avLst/>
          </a:prstGeom>
          <a:noFill/>
          <a:ln/>
        </p:spPr>
        <p:txBody>
          <a:bodyPr wrap="square" rtlCol="0" anchor="ctr"/>
          <a:lstStyle/>
          <a:p>
            <a:pPr marL="0" indent="0">
              <a:buNone/>
            </a:pPr>
            <a:r>
              <a:rPr lang="en-US" sz="1500" b="1" dirty="0">
                <a:solidFill>
                  <a:srgbClr val="1A7A4A"/>
                </a:solidFill>
              </a:rPr>
              <a:t>Task 2</a:t>
            </a:r>
            <a:endParaRPr lang="en-US" sz="1500" dirty="0"/>
          </a:p>
        </p:txBody>
      </p:sp>
      <p:sp>
        <p:nvSpPr>
          <p:cNvPr id="12" name="Text 10"/>
          <p:cNvSpPr/>
          <p:nvPr/>
        </p:nvSpPr>
        <p:spPr>
          <a:xfrm>
            <a:off x="4892040" y="1444752"/>
            <a:ext cx="3840480" cy="914400"/>
          </a:xfrm>
          <a:prstGeom prst="rect">
            <a:avLst/>
          </a:prstGeom>
          <a:noFill/>
          <a:ln/>
        </p:spPr>
        <p:txBody>
          <a:bodyPr wrap="square" rtlCol="0" anchor="ctr"/>
          <a:lstStyle/>
          <a:p>
            <a:pPr marL="0" indent="0">
              <a:buNone/>
            </a:pPr>
            <a:r>
              <a:rPr lang="en-US" sz="1300" dirty="0">
                <a:solidFill>
                  <a:srgbClr val="1C2B4A"/>
                </a:solidFill>
              </a:rPr>
              <a:t>Monitor &amp; Manage</a:t>
            </a:r>
            <a:endParaRPr lang="en-US" sz="1300" dirty="0"/>
          </a:p>
          <a:p>
            <a:pPr marL="0" indent="0">
              <a:buNone/>
            </a:pPr>
            <a:r>
              <a:rPr lang="en-US" sz="1300" dirty="0">
                <a:solidFill>
                  <a:srgbClr val="1C2B4A"/>
                </a:solidFill>
              </a:rPr>
              <a:t>the EC2 Instance</a:t>
            </a:r>
            <a:endParaRPr lang="en-US" sz="1300" dirty="0"/>
          </a:p>
        </p:txBody>
      </p:sp>
      <p:sp>
        <p:nvSpPr>
          <p:cNvPr id="13" name="Shape 11"/>
          <p:cNvSpPr/>
          <p:nvPr/>
        </p:nvSpPr>
        <p:spPr>
          <a:xfrm>
            <a:off x="228600" y="2834640"/>
            <a:ext cx="4206240" cy="1691640"/>
          </a:xfrm>
          <a:prstGeom prst="rect">
            <a:avLst/>
          </a:prstGeom>
          <a:solidFill>
            <a:srgbClr val="FFFFFF"/>
          </a:solidFill>
          <a:ln/>
          <a:effectLst>
            <a:outerShdw blurRad="101600" dist="25400" dir="8100000" algn="bl" rotWithShape="0">
              <a:srgbClr val="000000">
                <a:alpha val="10000"/>
              </a:srgbClr>
            </a:outerShdw>
          </a:effectLst>
        </p:spPr>
      </p:sp>
      <p:sp>
        <p:nvSpPr>
          <p:cNvPr id="14" name="Shape 12"/>
          <p:cNvSpPr/>
          <p:nvPr/>
        </p:nvSpPr>
        <p:spPr>
          <a:xfrm>
            <a:off x="228600" y="2834640"/>
            <a:ext cx="109728" cy="1691640"/>
          </a:xfrm>
          <a:prstGeom prst="rect">
            <a:avLst/>
          </a:prstGeom>
          <a:solidFill>
            <a:srgbClr val="7A3A1A"/>
          </a:solidFill>
          <a:ln w="12700">
            <a:solidFill>
              <a:srgbClr val="7A3A1A"/>
            </a:solidFill>
            <a:prstDash val="solid"/>
          </a:ln>
        </p:spPr>
      </p:sp>
      <p:sp>
        <p:nvSpPr>
          <p:cNvPr id="15" name="Text 13"/>
          <p:cNvSpPr/>
          <p:nvPr/>
        </p:nvSpPr>
        <p:spPr>
          <a:xfrm>
            <a:off x="411480" y="2971800"/>
            <a:ext cx="3931920" cy="365760"/>
          </a:xfrm>
          <a:prstGeom prst="rect">
            <a:avLst/>
          </a:prstGeom>
          <a:noFill/>
          <a:ln/>
        </p:spPr>
        <p:txBody>
          <a:bodyPr wrap="square" rtlCol="0" anchor="ctr"/>
          <a:lstStyle/>
          <a:p>
            <a:pPr marL="0" indent="0">
              <a:buNone/>
            </a:pPr>
            <a:r>
              <a:rPr lang="en-US" sz="1500" b="1" dirty="0">
                <a:solidFill>
                  <a:srgbClr val="7A3A1A"/>
                </a:solidFill>
              </a:rPr>
              <a:t>Task 3</a:t>
            </a:r>
            <a:endParaRPr lang="en-US" sz="1500" dirty="0"/>
          </a:p>
        </p:txBody>
      </p:sp>
      <p:sp>
        <p:nvSpPr>
          <p:cNvPr id="16" name="Text 14"/>
          <p:cNvSpPr/>
          <p:nvPr/>
        </p:nvSpPr>
        <p:spPr>
          <a:xfrm>
            <a:off x="411480" y="3364992"/>
            <a:ext cx="3840480" cy="914400"/>
          </a:xfrm>
          <a:prstGeom prst="rect">
            <a:avLst/>
          </a:prstGeom>
          <a:noFill/>
          <a:ln/>
        </p:spPr>
        <p:txBody>
          <a:bodyPr wrap="square" rtlCol="0" anchor="ctr"/>
          <a:lstStyle/>
          <a:p>
            <a:pPr marL="0" indent="0">
              <a:buNone/>
            </a:pPr>
            <a:r>
              <a:rPr lang="en-US" sz="1300" dirty="0">
                <a:solidFill>
                  <a:srgbClr val="1C2B4A"/>
                </a:solidFill>
              </a:rPr>
              <a:t>Load Balancer &amp;</a:t>
            </a:r>
            <a:endParaRPr lang="en-US" sz="1300" dirty="0"/>
          </a:p>
          <a:p>
            <a:pPr marL="0" indent="0">
              <a:buNone/>
            </a:pPr>
            <a:r>
              <a:rPr lang="en-US" sz="1300" dirty="0">
                <a:solidFill>
                  <a:srgbClr val="1C2B4A"/>
                </a:solidFill>
              </a:rPr>
              <a:t>Auto Scaling Group</a:t>
            </a:r>
            <a:endParaRPr lang="en-US" sz="1300" dirty="0"/>
          </a:p>
        </p:txBody>
      </p:sp>
      <p:sp>
        <p:nvSpPr>
          <p:cNvPr id="17" name="Shape 15"/>
          <p:cNvSpPr/>
          <p:nvPr/>
        </p:nvSpPr>
        <p:spPr>
          <a:xfrm>
            <a:off x="4709160" y="2834640"/>
            <a:ext cx="4206240" cy="1691640"/>
          </a:xfrm>
          <a:prstGeom prst="rect">
            <a:avLst/>
          </a:prstGeom>
          <a:solidFill>
            <a:srgbClr val="FFFFFF"/>
          </a:solidFill>
          <a:ln/>
          <a:effectLst>
            <a:outerShdw blurRad="101600" dist="25400" dir="8100000" algn="bl" rotWithShape="0">
              <a:srgbClr val="000000">
                <a:alpha val="10000"/>
              </a:srgbClr>
            </a:outerShdw>
          </a:effectLst>
        </p:spPr>
      </p:sp>
      <p:sp>
        <p:nvSpPr>
          <p:cNvPr id="18" name="Shape 16"/>
          <p:cNvSpPr/>
          <p:nvPr/>
        </p:nvSpPr>
        <p:spPr>
          <a:xfrm>
            <a:off x="4709160" y="2834640"/>
            <a:ext cx="109728" cy="1691640"/>
          </a:xfrm>
          <a:prstGeom prst="rect">
            <a:avLst/>
          </a:prstGeom>
          <a:solidFill>
            <a:srgbClr val="4A2A7A"/>
          </a:solidFill>
          <a:ln w="12700">
            <a:solidFill>
              <a:srgbClr val="4A2A7A"/>
            </a:solidFill>
            <a:prstDash val="solid"/>
          </a:ln>
        </p:spPr>
      </p:sp>
      <p:sp>
        <p:nvSpPr>
          <p:cNvPr id="19" name="Text 17"/>
          <p:cNvSpPr/>
          <p:nvPr/>
        </p:nvSpPr>
        <p:spPr>
          <a:xfrm>
            <a:off x="4892040" y="2971800"/>
            <a:ext cx="3931920" cy="365760"/>
          </a:xfrm>
          <a:prstGeom prst="rect">
            <a:avLst/>
          </a:prstGeom>
          <a:noFill/>
          <a:ln/>
        </p:spPr>
        <p:txBody>
          <a:bodyPr wrap="square" rtlCol="0" anchor="ctr"/>
          <a:lstStyle/>
          <a:p>
            <a:pPr marL="0" indent="0">
              <a:buNone/>
            </a:pPr>
            <a:r>
              <a:rPr lang="en-US" sz="1500" b="1" dirty="0">
                <a:solidFill>
                  <a:srgbClr val="4A2A7A"/>
                </a:solidFill>
              </a:rPr>
              <a:t>Task 4</a:t>
            </a:r>
            <a:endParaRPr lang="en-US" sz="1500" dirty="0"/>
          </a:p>
        </p:txBody>
      </p:sp>
      <p:sp>
        <p:nvSpPr>
          <p:cNvPr id="20" name="Text 18"/>
          <p:cNvSpPr/>
          <p:nvPr/>
        </p:nvSpPr>
        <p:spPr>
          <a:xfrm>
            <a:off x="4892040" y="3364992"/>
            <a:ext cx="3840480" cy="914400"/>
          </a:xfrm>
          <a:prstGeom prst="rect">
            <a:avLst/>
          </a:prstGeom>
          <a:noFill/>
          <a:ln/>
        </p:spPr>
        <p:txBody>
          <a:bodyPr wrap="square" rtlCol="0" anchor="ctr"/>
          <a:lstStyle/>
          <a:p>
            <a:pPr marL="0" indent="0">
              <a:buNone/>
            </a:pPr>
            <a:r>
              <a:rPr lang="en-US" sz="1300" dirty="0">
                <a:solidFill>
                  <a:srgbClr val="1C2B4A"/>
                </a:solidFill>
              </a:rPr>
              <a:t>Reflection</a:t>
            </a:r>
            <a:endParaRPr lang="en-US" sz="1300" dirty="0"/>
          </a:p>
          <a:p>
            <a:pPr marL="0" indent="0">
              <a:buNone/>
            </a:pPr>
            <a:r>
              <a:rPr lang="en-US" sz="1300" dirty="0">
                <a:solidFill>
                  <a:srgbClr val="1C2B4A"/>
                </a:solidFill>
              </a:rPr>
              <a:t>Questions</a:t>
            </a:r>
            <a:endParaRPr lang="en-US" sz="1300" dirty="0"/>
          </a:p>
        </p:txBody>
      </p:sp>
      <p:sp>
        <p:nvSpPr>
          <p:cNvPr id="21" name="Shape 19"/>
          <p:cNvSpPr/>
          <p:nvPr/>
        </p:nvSpPr>
        <p:spPr>
          <a:xfrm>
            <a:off x="0" y="4800600"/>
            <a:ext cx="9144000" cy="342900"/>
          </a:xfrm>
          <a:prstGeom prst="rect">
            <a:avLst/>
          </a:prstGeom>
          <a:solidFill>
            <a:srgbClr val="12203A"/>
          </a:solidFill>
          <a:ln w="12700">
            <a:solidFill>
              <a:srgbClr val="12203A"/>
            </a:solidFill>
            <a:prstDash val="solid"/>
          </a:ln>
        </p:spPr>
      </p:sp>
      <p:sp>
        <p:nvSpPr>
          <p:cNvPr id="22" name="Text 20"/>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1 – Launching an EC2 Instance</a:t>
            </a:r>
            <a:endParaRPr lang="en-US" sz="2200" dirty="0"/>
          </a:p>
        </p:txBody>
      </p:sp>
      <p:sp>
        <p:nvSpPr>
          <p:cNvPr id="5" name="Text 3"/>
          <p:cNvSpPr/>
          <p:nvPr/>
        </p:nvSpPr>
        <p:spPr>
          <a:xfrm>
            <a:off x="228600" y="713232"/>
            <a:ext cx="8686800" cy="365760"/>
          </a:xfrm>
          <a:prstGeom prst="rect">
            <a:avLst/>
          </a:prstGeom>
          <a:noFill/>
          <a:ln/>
        </p:spPr>
        <p:txBody>
          <a:bodyPr wrap="square" rtlCol="0" anchor="ctr"/>
          <a:lstStyle/>
          <a:p>
            <a:pPr marL="0" indent="0">
              <a:buNone/>
            </a:pPr>
            <a:r>
              <a:rPr lang="en-US" sz="1200" i="1" dirty="0">
                <a:solidFill>
                  <a:srgbClr val="F5A623"/>
                </a:solidFill>
              </a:rPr>
              <a:t>Module 6 Lab-3 · AWS Academy</a:t>
            </a:r>
            <a:endParaRPr lang="en-US" sz="1200" dirty="0"/>
          </a:p>
        </p:txBody>
      </p:sp>
      <p:sp>
        <p:nvSpPr>
          <p:cNvPr id="6" name="Shape 4"/>
          <p:cNvSpPr/>
          <p:nvPr/>
        </p:nvSpPr>
        <p:spPr>
          <a:xfrm>
            <a:off x="0" y="4800600"/>
            <a:ext cx="9144000" cy="342900"/>
          </a:xfrm>
          <a:prstGeom prst="rect">
            <a:avLst/>
          </a:prstGeom>
          <a:solidFill>
            <a:srgbClr val="12203A"/>
          </a:solidFill>
          <a:ln w="12700">
            <a:solidFill>
              <a:srgbClr val="12203A"/>
            </a:solidFill>
            <a:prstDash val="solid"/>
          </a:ln>
        </p:spPr>
      </p:sp>
      <p:sp>
        <p:nvSpPr>
          <p:cNvPr id="7" name="Text 5"/>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8" name="Text 6"/>
          <p:cNvSpPr/>
          <p:nvPr/>
        </p:nvSpPr>
        <p:spPr>
          <a:xfrm>
            <a:off x="228600" y="777240"/>
            <a:ext cx="8686800" cy="320040"/>
          </a:xfrm>
          <a:prstGeom prst="rect">
            <a:avLst/>
          </a:prstGeom>
          <a:noFill/>
          <a:ln/>
        </p:spPr>
        <p:txBody>
          <a:bodyPr wrap="square" rtlCol="0" anchor="ctr"/>
          <a:lstStyle/>
          <a:p>
            <a:pPr marL="0" indent="0">
              <a:buNone/>
            </a:pPr>
            <a:r>
              <a:rPr lang="en-US" sz="1200" i="1" dirty="0">
                <a:solidFill>
                  <a:srgbClr val="5A6A7A"/>
                </a:solidFill>
              </a:rPr>
              <a:t>Configured the following settings before launching:</a:t>
            </a:r>
            <a:endParaRPr lang="en-US" sz="1200" dirty="0"/>
          </a:p>
        </p:txBody>
      </p:sp>
      <p:sp>
        <p:nvSpPr>
          <p:cNvPr id="9" name="Shape 7"/>
          <p:cNvSpPr/>
          <p:nvPr/>
        </p:nvSpPr>
        <p:spPr>
          <a:xfrm>
            <a:off x="164592" y="117043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10" name="Shape 8"/>
          <p:cNvSpPr/>
          <p:nvPr/>
        </p:nvSpPr>
        <p:spPr>
          <a:xfrm>
            <a:off x="164592" y="1170432"/>
            <a:ext cx="91440" cy="822960"/>
          </a:xfrm>
          <a:prstGeom prst="rect">
            <a:avLst/>
          </a:prstGeom>
          <a:solidFill>
            <a:srgbClr val="F5A623"/>
          </a:solidFill>
          <a:ln w="12700">
            <a:solidFill>
              <a:srgbClr val="F5A623"/>
            </a:solidFill>
            <a:prstDash val="solid"/>
          </a:ln>
        </p:spPr>
      </p:sp>
      <p:sp>
        <p:nvSpPr>
          <p:cNvPr id="11" name="Text 9"/>
          <p:cNvSpPr/>
          <p:nvPr/>
        </p:nvSpPr>
        <p:spPr>
          <a:xfrm>
            <a:off x="329184" y="1216152"/>
            <a:ext cx="4023360" cy="274320"/>
          </a:xfrm>
          <a:prstGeom prst="rect">
            <a:avLst/>
          </a:prstGeom>
          <a:noFill/>
          <a:ln/>
        </p:spPr>
        <p:txBody>
          <a:bodyPr wrap="square" rtlCol="0" anchor="ctr"/>
          <a:lstStyle/>
          <a:p>
            <a:pPr marL="0" indent="0">
              <a:buNone/>
            </a:pPr>
            <a:r>
              <a:rPr lang="en-US" sz="1100" b="1" dirty="0">
                <a:solidFill>
                  <a:srgbClr val="1C2B4A"/>
                </a:solidFill>
              </a:rPr>
              <a:t>1  Name &amp; Tag</a:t>
            </a:r>
            <a:endParaRPr lang="en-US" sz="1100" dirty="0"/>
          </a:p>
        </p:txBody>
      </p:sp>
      <p:sp>
        <p:nvSpPr>
          <p:cNvPr id="12" name="Text 10"/>
          <p:cNvSpPr/>
          <p:nvPr/>
        </p:nvSpPr>
        <p:spPr>
          <a:xfrm>
            <a:off x="329184" y="1490472"/>
            <a:ext cx="4023360" cy="457200"/>
          </a:xfrm>
          <a:prstGeom prst="rect">
            <a:avLst/>
          </a:prstGeom>
          <a:noFill/>
          <a:ln/>
        </p:spPr>
        <p:txBody>
          <a:bodyPr wrap="square" rtlCol="0" anchor="ctr"/>
          <a:lstStyle/>
          <a:p>
            <a:pPr marL="0" indent="0">
              <a:buNone/>
            </a:pPr>
            <a:r>
              <a:rPr lang="en-US" sz="1050" dirty="0">
                <a:solidFill>
                  <a:srgbClr val="5A6A7A"/>
                </a:solidFill>
              </a:rPr>
              <a:t>Named the instance 'Web Server' — stored as a resource tag</a:t>
            </a:r>
            <a:endParaRPr lang="en-US" sz="1050" dirty="0"/>
          </a:p>
        </p:txBody>
      </p:sp>
      <p:sp>
        <p:nvSpPr>
          <p:cNvPr id="13" name="Shape 11"/>
          <p:cNvSpPr/>
          <p:nvPr/>
        </p:nvSpPr>
        <p:spPr>
          <a:xfrm>
            <a:off x="4663440" y="117043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14" name="Shape 12"/>
          <p:cNvSpPr/>
          <p:nvPr/>
        </p:nvSpPr>
        <p:spPr>
          <a:xfrm>
            <a:off x="4663440" y="1170432"/>
            <a:ext cx="91440" cy="822960"/>
          </a:xfrm>
          <a:prstGeom prst="rect">
            <a:avLst/>
          </a:prstGeom>
          <a:solidFill>
            <a:srgbClr val="F5A623"/>
          </a:solidFill>
          <a:ln w="12700">
            <a:solidFill>
              <a:srgbClr val="F5A623"/>
            </a:solidFill>
            <a:prstDash val="solid"/>
          </a:ln>
        </p:spPr>
      </p:sp>
      <p:sp>
        <p:nvSpPr>
          <p:cNvPr id="15" name="Text 13"/>
          <p:cNvSpPr/>
          <p:nvPr/>
        </p:nvSpPr>
        <p:spPr>
          <a:xfrm>
            <a:off x="4828032" y="1216152"/>
            <a:ext cx="4023360" cy="274320"/>
          </a:xfrm>
          <a:prstGeom prst="rect">
            <a:avLst/>
          </a:prstGeom>
          <a:noFill/>
          <a:ln/>
        </p:spPr>
        <p:txBody>
          <a:bodyPr wrap="square" rtlCol="0" anchor="ctr"/>
          <a:lstStyle/>
          <a:p>
            <a:pPr marL="0" indent="0">
              <a:buNone/>
            </a:pPr>
            <a:r>
              <a:rPr lang="en-US" sz="1100" b="1" dirty="0">
                <a:solidFill>
                  <a:srgbClr val="1C2B4A"/>
                </a:solidFill>
              </a:rPr>
              <a:t>2  AMI</a:t>
            </a:r>
            <a:endParaRPr lang="en-US" sz="1100" dirty="0"/>
          </a:p>
        </p:txBody>
      </p:sp>
      <p:sp>
        <p:nvSpPr>
          <p:cNvPr id="16" name="Text 14"/>
          <p:cNvSpPr/>
          <p:nvPr/>
        </p:nvSpPr>
        <p:spPr>
          <a:xfrm>
            <a:off x="4828032" y="1490472"/>
            <a:ext cx="4023360" cy="457200"/>
          </a:xfrm>
          <a:prstGeom prst="rect">
            <a:avLst/>
          </a:prstGeom>
          <a:noFill/>
          <a:ln/>
        </p:spPr>
        <p:txBody>
          <a:bodyPr wrap="square" rtlCol="0" anchor="ctr"/>
          <a:lstStyle/>
          <a:p>
            <a:pPr marL="0" indent="0">
              <a:buNone/>
            </a:pPr>
            <a:r>
              <a:rPr lang="en-US" sz="1050" dirty="0">
                <a:solidFill>
                  <a:srgbClr val="5A6A7A"/>
                </a:solidFill>
              </a:rPr>
              <a:t>Amazon Linux 2 (Free Tier) — provides the OS image</a:t>
            </a:r>
            <a:endParaRPr lang="en-US" sz="1050" dirty="0"/>
          </a:p>
        </p:txBody>
      </p:sp>
      <p:sp>
        <p:nvSpPr>
          <p:cNvPr id="17" name="Shape 15"/>
          <p:cNvSpPr/>
          <p:nvPr/>
        </p:nvSpPr>
        <p:spPr>
          <a:xfrm>
            <a:off x="164592" y="213055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18" name="Shape 16"/>
          <p:cNvSpPr/>
          <p:nvPr/>
        </p:nvSpPr>
        <p:spPr>
          <a:xfrm>
            <a:off x="164592" y="2130552"/>
            <a:ext cx="91440" cy="822960"/>
          </a:xfrm>
          <a:prstGeom prst="rect">
            <a:avLst/>
          </a:prstGeom>
          <a:solidFill>
            <a:srgbClr val="F5A623"/>
          </a:solidFill>
          <a:ln w="12700">
            <a:solidFill>
              <a:srgbClr val="F5A623"/>
            </a:solidFill>
            <a:prstDash val="solid"/>
          </a:ln>
        </p:spPr>
      </p:sp>
      <p:sp>
        <p:nvSpPr>
          <p:cNvPr id="19" name="Text 17"/>
          <p:cNvSpPr/>
          <p:nvPr/>
        </p:nvSpPr>
        <p:spPr>
          <a:xfrm>
            <a:off x="329184" y="2176272"/>
            <a:ext cx="4023360" cy="274320"/>
          </a:xfrm>
          <a:prstGeom prst="rect">
            <a:avLst/>
          </a:prstGeom>
          <a:noFill/>
          <a:ln/>
        </p:spPr>
        <p:txBody>
          <a:bodyPr wrap="square" rtlCol="0" anchor="ctr"/>
          <a:lstStyle/>
          <a:p>
            <a:pPr marL="0" indent="0">
              <a:buNone/>
            </a:pPr>
            <a:r>
              <a:rPr lang="en-US" sz="1100" b="1" dirty="0">
                <a:solidFill>
                  <a:srgbClr val="1C2B4A"/>
                </a:solidFill>
              </a:rPr>
              <a:t>3  Instance Type</a:t>
            </a:r>
            <a:endParaRPr lang="en-US" sz="1100" dirty="0"/>
          </a:p>
        </p:txBody>
      </p:sp>
      <p:sp>
        <p:nvSpPr>
          <p:cNvPr id="20" name="Text 18"/>
          <p:cNvSpPr/>
          <p:nvPr/>
        </p:nvSpPr>
        <p:spPr>
          <a:xfrm>
            <a:off x="329184" y="2450592"/>
            <a:ext cx="4023360" cy="457200"/>
          </a:xfrm>
          <a:prstGeom prst="rect">
            <a:avLst/>
          </a:prstGeom>
          <a:noFill/>
          <a:ln/>
        </p:spPr>
        <p:txBody>
          <a:bodyPr wrap="square" rtlCol="0" anchor="ctr"/>
          <a:lstStyle/>
          <a:p>
            <a:pPr marL="0" indent="0">
              <a:buNone/>
            </a:pPr>
            <a:r>
              <a:rPr lang="en-US" sz="1050" dirty="0">
                <a:solidFill>
                  <a:srgbClr val="5A6A7A"/>
                </a:solidFill>
              </a:rPr>
              <a:t>t2.micro — general purpose, Free Tier eligible</a:t>
            </a:r>
            <a:endParaRPr lang="en-US" sz="1050" dirty="0"/>
          </a:p>
        </p:txBody>
      </p:sp>
      <p:sp>
        <p:nvSpPr>
          <p:cNvPr id="21" name="Shape 19"/>
          <p:cNvSpPr/>
          <p:nvPr/>
        </p:nvSpPr>
        <p:spPr>
          <a:xfrm>
            <a:off x="4663440" y="213055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22" name="Shape 20"/>
          <p:cNvSpPr/>
          <p:nvPr/>
        </p:nvSpPr>
        <p:spPr>
          <a:xfrm>
            <a:off x="4663440" y="2130552"/>
            <a:ext cx="91440" cy="822960"/>
          </a:xfrm>
          <a:prstGeom prst="rect">
            <a:avLst/>
          </a:prstGeom>
          <a:solidFill>
            <a:srgbClr val="F5A623"/>
          </a:solidFill>
          <a:ln w="12700">
            <a:solidFill>
              <a:srgbClr val="F5A623"/>
            </a:solidFill>
            <a:prstDash val="solid"/>
          </a:ln>
        </p:spPr>
      </p:sp>
      <p:sp>
        <p:nvSpPr>
          <p:cNvPr id="23" name="Text 21"/>
          <p:cNvSpPr/>
          <p:nvPr/>
        </p:nvSpPr>
        <p:spPr>
          <a:xfrm>
            <a:off x="4828032" y="2176272"/>
            <a:ext cx="4023360" cy="274320"/>
          </a:xfrm>
          <a:prstGeom prst="rect">
            <a:avLst/>
          </a:prstGeom>
          <a:noFill/>
          <a:ln/>
        </p:spPr>
        <p:txBody>
          <a:bodyPr wrap="square" rtlCol="0" anchor="ctr"/>
          <a:lstStyle/>
          <a:p>
            <a:pPr marL="0" indent="0">
              <a:buNone/>
            </a:pPr>
            <a:r>
              <a:rPr lang="en-US" sz="1100" b="1" dirty="0">
                <a:solidFill>
                  <a:srgbClr val="1C2B4A"/>
                </a:solidFill>
              </a:rPr>
              <a:t>4  Key Pair</a:t>
            </a:r>
            <a:endParaRPr lang="en-US" sz="1100" dirty="0"/>
          </a:p>
        </p:txBody>
      </p:sp>
      <p:sp>
        <p:nvSpPr>
          <p:cNvPr id="24" name="Text 22"/>
          <p:cNvSpPr/>
          <p:nvPr/>
        </p:nvSpPr>
        <p:spPr>
          <a:xfrm>
            <a:off x="4828032" y="2450592"/>
            <a:ext cx="4023360" cy="457200"/>
          </a:xfrm>
          <a:prstGeom prst="rect">
            <a:avLst/>
          </a:prstGeom>
          <a:noFill/>
          <a:ln/>
        </p:spPr>
        <p:txBody>
          <a:bodyPr wrap="square" rtlCol="0" anchor="ctr"/>
          <a:lstStyle/>
          <a:p>
            <a:pPr marL="0" indent="0">
              <a:buNone/>
            </a:pPr>
            <a:r>
              <a:rPr lang="en-US" sz="1050" dirty="0">
                <a:solidFill>
                  <a:srgbClr val="5A6A7A"/>
                </a:solidFill>
              </a:rPr>
              <a:t>RSA key pair — used for encrypted SSH authentication</a:t>
            </a:r>
            <a:endParaRPr lang="en-US" sz="1050" dirty="0"/>
          </a:p>
        </p:txBody>
      </p:sp>
      <p:sp>
        <p:nvSpPr>
          <p:cNvPr id="25" name="Shape 23"/>
          <p:cNvSpPr/>
          <p:nvPr/>
        </p:nvSpPr>
        <p:spPr>
          <a:xfrm>
            <a:off x="164592" y="309067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26" name="Shape 24"/>
          <p:cNvSpPr/>
          <p:nvPr/>
        </p:nvSpPr>
        <p:spPr>
          <a:xfrm>
            <a:off x="164592" y="3090672"/>
            <a:ext cx="91440" cy="822960"/>
          </a:xfrm>
          <a:prstGeom prst="rect">
            <a:avLst/>
          </a:prstGeom>
          <a:solidFill>
            <a:srgbClr val="F5A623"/>
          </a:solidFill>
          <a:ln w="12700">
            <a:solidFill>
              <a:srgbClr val="F5A623"/>
            </a:solidFill>
            <a:prstDash val="solid"/>
          </a:ln>
        </p:spPr>
      </p:sp>
      <p:sp>
        <p:nvSpPr>
          <p:cNvPr id="27" name="Text 25"/>
          <p:cNvSpPr/>
          <p:nvPr/>
        </p:nvSpPr>
        <p:spPr>
          <a:xfrm>
            <a:off x="329184" y="3136392"/>
            <a:ext cx="4023360" cy="274320"/>
          </a:xfrm>
          <a:prstGeom prst="rect">
            <a:avLst/>
          </a:prstGeom>
          <a:noFill/>
          <a:ln/>
        </p:spPr>
        <p:txBody>
          <a:bodyPr wrap="square" rtlCol="0" anchor="ctr"/>
          <a:lstStyle/>
          <a:p>
            <a:pPr marL="0" indent="0">
              <a:buNone/>
            </a:pPr>
            <a:r>
              <a:rPr lang="en-US" sz="1100" b="1" dirty="0">
                <a:solidFill>
                  <a:srgbClr val="1C2B4A"/>
                </a:solidFill>
              </a:rPr>
              <a:t>5  Network</a:t>
            </a:r>
            <a:endParaRPr lang="en-US" sz="1100" dirty="0"/>
          </a:p>
        </p:txBody>
      </p:sp>
      <p:sp>
        <p:nvSpPr>
          <p:cNvPr id="28" name="Text 26"/>
          <p:cNvSpPr/>
          <p:nvPr/>
        </p:nvSpPr>
        <p:spPr>
          <a:xfrm>
            <a:off x="329184" y="3410712"/>
            <a:ext cx="4023360" cy="457200"/>
          </a:xfrm>
          <a:prstGeom prst="rect">
            <a:avLst/>
          </a:prstGeom>
          <a:noFill/>
          <a:ln/>
        </p:spPr>
        <p:txBody>
          <a:bodyPr wrap="square" rtlCol="0" anchor="ctr"/>
          <a:lstStyle/>
          <a:p>
            <a:pPr marL="0" indent="0">
              <a:buNone/>
            </a:pPr>
            <a:r>
              <a:rPr lang="en-US" sz="1050" dirty="0">
                <a:solidFill>
                  <a:srgbClr val="5A6A7A"/>
                </a:solidFill>
              </a:rPr>
              <a:t>Lab VPC with two public subnets across two AZs</a:t>
            </a:r>
            <a:endParaRPr lang="en-US" sz="1050" dirty="0"/>
          </a:p>
        </p:txBody>
      </p:sp>
      <p:sp>
        <p:nvSpPr>
          <p:cNvPr id="29" name="Shape 27"/>
          <p:cNvSpPr/>
          <p:nvPr/>
        </p:nvSpPr>
        <p:spPr>
          <a:xfrm>
            <a:off x="4663440" y="3090672"/>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30" name="Shape 28"/>
          <p:cNvSpPr/>
          <p:nvPr/>
        </p:nvSpPr>
        <p:spPr>
          <a:xfrm>
            <a:off x="4663440" y="3090672"/>
            <a:ext cx="91440" cy="822960"/>
          </a:xfrm>
          <a:prstGeom prst="rect">
            <a:avLst/>
          </a:prstGeom>
          <a:solidFill>
            <a:srgbClr val="F5A623"/>
          </a:solidFill>
          <a:ln w="12700">
            <a:solidFill>
              <a:srgbClr val="F5A623"/>
            </a:solidFill>
            <a:prstDash val="solid"/>
          </a:ln>
        </p:spPr>
      </p:sp>
      <p:sp>
        <p:nvSpPr>
          <p:cNvPr id="31" name="Text 29"/>
          <p:cNvSpPr/>
          <p:nvPr/>
        </p:nvSpPr>
        <p:spPr>
          <a:xfrm>
            <a:off x="4828032" y="3136392"/>
            <a:ext cx="4023360" cy="274320"/>
          </a:xfrm>
          <a:prstGeom prst="rect">
            <a:avLst/>
          </a:prstGeom>
          <a:noFill/>
          <a:ln/>
        </p:spPr>
        <p:txBody>
          <a:bodyPr wrap="square" rtlCol="0" anchor="ctr"/>
          <a:lstStyle/>
          <a:p>
            <a:pPr marL="0" indent="0">
              <a:buNone/>
            </a:pPr>
            <a:r>
              <a:rPr lang="en-US" sz="1100" b="1" dirty="0">
                <a:solidFill>
                  <a:srgbClr val="1C2B4A"/>
                </a:solidFill>
              </a:rPr>
              <a:t>6  Firewall</a:t>
            </a:r>
            <a:endParaRPr lang="en-US" sz="1100" dirty="0"/>
          </a:p>
        </p:txBody>
      </p:sp>
      <p:sp>
        <p:nvSpPr>
          <p:cNvPr id="32" name="Text 30"/>
          <p:cNvSpPr/>
          <p:nvPr/>
        </p:nvSpPr>
        <p:spPr>
          <a:xfrm>
            <a:off x="4828032" y="3410712"/>
            <a:ext cx="4023360" cy="457200"/>
          </a:xfrm>
          <a:prstGeom prst="rect">
            <a:avLst/>
          </a:prstGeom>
          <a:noFill/>
          <a:ln/>
        </p:spPr>
        <p:txBody>
          <a:bodyPr wrap="square" rtlCol="0" anchor="ctr"/>
          <a:lstStyle/>
          <a:p>
            <a:pPr marL="0" indent="0">
              <a:buNone/>
            </a:pPr>
            <a:r>
              <a:rPr lang="en-US" sz="1050" dirty="0">
                <a:solidFill>
                  <a:srgbClr val="5A6A7A"/>
                </a:solidFill>
              </a:rPr>
              <a:t>Created 'Web Server Security Group' — removed default SSH rule</a:t>
            </a:r>
            <a:endParaRPr lang="en-US" sz="1050" dirty="0"/>
          </a:p>
        </p:txBody>
      </p:sp>
      <p:sp>
        <p:nvSpPr>
          <p:cNvPr id="33" name="Shape 31"/>
          <p:cNvSpPr/>
          <p:nvPr/>
        </p:nvSpPr>
        <p:spPr>
          <a:xfrm>
            <a:off x="0" y="4800600"/>
            <a:ext cx="9144000" cy="342900"/>
          </a:xfrm>
          <a:prstGeom prst="rect">
            <a:avLst/>
          </a:prstGeom>
          <a:solidFill>
            <a:srgbClr val="12203A"/>
          </a:solidFill>
          <a:ln w="12700">
            <a:solidFill>
              <a:srgbClr val="12203A"/>
            </a:solidFill>
            <a:prstDash val="solid"/>
          </a:ln>
        </p:spPr>
      </p:sp>
      <p:sp>
        <p:nvSpPr>
          <p:cNvPr id="34" name="Text 32"/>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1 – Instance Configuration Screenshots</a:t>
            </a:r>
            <a:endParaRPr lang="en-US" sz="2200" dirty="0"/>
          </a:p>
        </p:txBody>
      </p:sp>
      <p:sp>
        <p:nvSpPr>
          <p:cNvPr id="5" name="Text 3"/>
          <p:cNvSpPr/>
          <p:nvPr/>
        </p:nvSpPr>
        <p:spPr>
          <a:xfrm>
            <a:off x="228600" y="713232"/>
            <a:ext cx="8686800" cy="365760"/>
          </a:xfrm>
          <a:prstGeom prst="rect">
            <a:avLst/>
          </a:prstGeom>
          <a:noFill/>
          <a:ln/>
        </p:spPr>
        <p:txBody>
          <a:bodyPr wrap="square" rtlCol="0" anchor="ctr"/>
          <a:lstStyle/>
          <a:p>
            <a:pPr marL="0" indent="0">
              <a:buNone/>
            </a:pPr>
            <a:r>
              <a:rPr lang="en-US" sz="1200" i="1" dirty="0">
                <a:solidFill>
                  <a:srgbClr val="F5A623"/>
                </a:solidFill>
              </a:rPr>
              <a:t>Name &amp; Tag · AMI · Instance Type</a:t>
            </a:r>
            <a:endParaRPr lang="en-US" sz="1200" dirty="0"/>
          </a:p>
        </p:txBody>
      </p:sp>
      <p:sp>
        <p:nvSpPr>
          <p:cNvPr id="6" name="Shape 4"/>
          <p:cNvSpPr/>
          <p:nvPr/>
        </p:nvSpPr>
        <p:spPr>
          <a:xfrm>
            <a:off x="0" y="4800600"/>
            <a:ext cx="9144000" cy="342900"/>
          </a:xfrm>
          <a:prstGeom prst="rect">
            <a:avLst/>
          </a:prstGeom>
          <a:solidFill>
            <a:srgbClr val="12203A"/>
          </a:solidFill>
          <a:ln w="12700">
            <a:solidFill>
              <a:srgbClr val="12203A"/>
            </a:solidFill>
            <a:prstDash val="solid"/>
          </a:ln>
        </p:spPr>
      </p:sp>
      <p:sp>
        <p:nvSpPr>
          <p:cNvPr id="7" name="Text 5"/>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pic>
        <p:nvPicPr>
          <p:cNvPr id="9" name="Image 0" descr="preencoded.png"/>
          <p:cNvPicPr>
            <a:picLocks noChangeAspect="1"/>
          </p:cNvPicPr>
          <p:nvPr/>
        </p:nvPicPr>
        <p:blipFill>
          <a:blip r:embed="rId3"/>
          <a:stretch>
            <a:fillRect/>
          </a:stretch>
        </p:blipFill>
        <p:spPr>
          <a:xfrm>
            <a:off x="182880" y="1051560"/>
            <a:ext cx="8686800" cy="685800"/>
          </a:xfrm>
          <a:prstGeom prst="rect">
            <a:avLst/>
          </a:prstGeom>
        </p:spPr>
      </p:pic>
      <p:sp>
        <p:nvSpPr>
          <p:cNvPr id="10" name="Text 7"/>
          <p:cNvSpPr/>
          <p:nvPr/>
        </p:nvSpPr>
        <p:spPr>
          <a:xfrm>
            <a:off x="182880" y="1874520"/>
            <a:ext cx="8229600" cy="256032"/>
          </a:xfrm>
          <a:prstGeom prst="rect">
            <a:avLst/>
          </a:prstGeom>
          <a:noFill/>
          <a:ln/>
        </p:spPr>
        <p:txBody>
          <a:bodyPr wrap="square" rtlCol="0" anchor="ctr"/>
          <a:lstStyle/>
          <a:p>
            <a:pPr marL="0" indent="0">
              <a:buNone/>
            </a:pPr>
            <a:r>
              <a:rPr lang="en-US" sz="1100" b="1" dirty="0">
                <a:solidFill>
                  <a:srgbClr val="F5A623"/>
                </a:solidFill>
              </a:rPr>
              <a:t>Amazon Machine Image (AMI)</a:t>
            </a:r>
            <a:endParaRPr lang="en-US" sz="1100" dirty="0"/>
          </a:p>
        </p:txBody>
      </p:sp>
      <p:pic>
        <p:nvPicPr>
          <p:cNvPr id="11" name="Image 1" descr="preencoded.png"/>
          <p:cNvPicPr>
            <a:picLocks noChangeAspect="1"/>
          </p:cNvPicPr>
          <p:nvPr/>
        </p:nvPicPr>
        <p:blipFill>
          <a:blip r:embed="rId4"/>
          <a:stretch>
            <a:fillRect/>
          </a:stretch>
        </p:blipFill>
        <p:spPr>
          <a:xfrm>
            <a:off x="182880" y="2148840"/>
            <a:ext cx="8686800" cy="685800"/>
          </a:xfrm>
          <a:prstGeom prst="rect">
            <a:avLst/>
          </a:prstGeom>
        </p:spPr>
      </p:pic>
      <p:sp>
        <p:nvSpPr>
          <p:cNvPr id="12" name="Text 8"/>
          <p:cNvSpPr/>
          <p:nvPr/>
        </p:nvSpPr>
        <p:spPr>
          <a:xfrm>
            <a:off x="182880" y="2944368"/>
            <a:ext cx="8229600" cy="256032"/>
          </a:xfrm>
          <a:prstGeom prst="rect">
            <a:avLst/>
          </a:prstGeom>
          <a:noFill/>
          <a:ln/>
        </p:spPr>
        <p:txBody>
          <a:bodyPr wrap="square" rtlCol="0" anchor="ctr"/>
          <a:lstStyle/>
          <a:p>
            <a:pPr marL="0" indent="0">
              <a:buNone/>
            </a:pPr>
            <a:r>
              <a:rPr lang="en-US" sz="1100" b="1" dirty="0">
                <a:solidFill>
                  <a:srgbClr val="F5A623"/>
                </a:solidFill>
              </a:rPr>
              <a:t>Instance Type – t2.micro</a:t>
            </a:r>
            <a:endParaRPr lang="en-US" sz="1100" dirty="0"/>
          </a:p>
        </p:txBody>
      </p:sp>
      <p:pic>
        <p:nvPicPr>
          <p:cNvPr id="13" name="Image 2" descr="preencoded.png"/>
          <p:cNvPicPr>
            <a:picLocks noChangeAspect="1"/>
          </p:cNvPicPr>
          <p:nvPr/>
        </p:nvPicPr>
        <p:blipFill>
          <a:blip r:embed="rId5"/>
          <a:stretch>
            <a:fillRect/>
          </a:stretch>
        </p:blipFill>
        <p:spPr>
          <a:xfrm>
            <a:off x="182880" y="3218688"/>
            <a:ext cx="8686800" cy="658368"/>
          </a:xfrm>
          <a:prstGeom prst="rect">
            <a:avLst/>
          </a:prstGeom>
        </p:spPr>
      </p:pic>
      <p:sp>
        <p:nvSpPr>
          <p:cNvPr id="14" name="Shape 9"/>
          <p:cNvSpPr/>
          <p:nvPr/>
        </p:nvSpPr>
        <p:spPr>
          <a:xfrm>
            <a:off x="0" y="4800600"/>
            <a:ext cx="9144000" cy="342900"/>
          </a:xfrm>
          <a:prstGeom prst="rect">
            <a:avLst/>
          </a:prstGeom>
          <a:solidFill>
            <a:srgbClr val="12203A"/>
          </a:solidFill>
          <a:ln w="12700">
            <a:solidFill>
              <a:srgbClr val="12203A"/>
            </a:solidFill>
            <a:prstDash val="solid"/>
          </a:ln>
        </p:spPr>
      </p:sp>
      <p:sp>
        <p:nvSpPr>
          <p:cNvPr id="15" name="Text 10"/>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1 – Network, Firewall, Storage &amp; Advanced Settings</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8229600" cy="256032"/>
          </a:xfrm>
          <a:prstGeom prst="rect">
            <a:avLst/>
          </a:prstGeom>
          <a:noFill/>
          <a:ln/>
        </p:spPr>
        <p:txBody>
          <a:bodyPr wrap="square" rtlCol="0" anchor="ctr"/>
          <a:lstStyle/>
          <a:p>
            <a:pPr marL="0" indent="0">
              <a:buNone/>
            </a:pPr>
            <a:r>
              <a:rPr lang="en-US" sz="1100" b="1" dirty="0">
                <a:solidFill>
                  <a:srgbClr val="F5A623"/>
                </a:solidFill>
              </a:rPr>
              <a:t>Network Setting – Lab VPC</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804672"/>
          </a:xfrm>
          <a:prstGeom prst="rect">
            <a:avLst/>
          </a:prstGeom>
        </p:spPr>
      </p:pic>
      <p:sp>
        <p:nvSpPr>
          <p:cNvPr id="9" name="Text 6"/>
          <p:cNvSpPr/>
          <p:nvPr/>
        </p:nvSpPr>
        <p:spPr>
          <a:xfrm>
            <a:off x="4572000" y="749808"/>
            <a:ext cx="8229600" cy="256032"/>
          </a:xfrm>
          <a:prstGeom prst="rect">
            <a:avLst/>
          </a:prstGeom>
          <a:noFill/>
          <a:ln/>
        </p:spPr>
        <p:txBody>
          <a:bodyPr wrap="square" rtlCol="0" anchor="ctr"/>
          <a:lstStyle/>
          <a:p>
            <a:pPr marL="0" indent="0">
              <a:buNone/>
            </a:pPr>
            <a:r>
              <a:rPr lang="en-US" sz="1100" b="1" dirty="0">
                <a:solidFill>
                  <a:srgbClr val="F5A623"/>
                </a:solidFill>
              </a:rPr>
              <a:t>Firewall – Security Group</a:t>
            </a:r>
            <a:endParaRPr lang="en-US" sz="1100" dirty="0"/>
          </a:p>
        </p:txBody>
      </p:sp>
      <p:pic>
        <p:nvPicPr>
          <p:cNvPr id="10" name="Image 1" descr="preencoded.png"/>
          <p:cNvPicPr>
            <a:picLocks noChangeAspect="1"/>
          </p:cNvPicPr>
          <p:nvPr/>
        </p:nvPicPr>
        <p:blipFill>
          <a:blip r:embed="rId4"/>
          <a:stretch>
            <a:fillRect/>
          </a:stretch>
        </p:blipFill>
        <p:spPr>
          <a:xfrm>
            <a:off x="4572000" y="1005840"/>
            <a:ext cx="4389120" cy="804672"/>
          </a:xfrm>
          <a:prstGeom prst="rect">
            <a:avLst/>
          </a:prstGeom>
        </p:spPr>
      </p:pic>
      <p:sp>
        <p:nvSpPr>
          <p:cNvPr id="11" name="Text 7"/>
          <p:cNvSpPr/>
          <p:nvPr/>
        </p:nvSpPr>
        <p:spPr>
          <a:xfrm>
            <a:off x="182880" y="1938528"/>
            <a:ext cx="8229600" cy="256032"/>
          </a:xfrm>
          <a:prstGeom prst="rect">
            <a:avLst/>
          </a:prstGeom>
          <a:noFill/>
          <a:ln/>
        </p:spPr>
        <p:txBody>
          <a:bodyPr wrap="square" rtlCol="0" anchor="ctr"/>
          <a:lstStyle/>
          <a:p>
            <a:pPr marL="0" indent="0">
              <a:buNone/>
            </a:pPr>
            <a:r>
              <a:rPr lang="en-US" sz="1100" b="1" dirty="0">
                <a:solidFill>
                  <a:srgbClr val="F5A623"/>
                </a:solidFill>
              </a:rPr>
              <a:t>Storage – 8 GiB Root Volume</a:t>
            </a:r>
            <a:endParaRPr lang="en-US" sz="1100" dirty="0"/>
          </a:p>
        </p:txBody>
      </p:sp>
      <p:pic>
        <p:nvPicPr>
          <p:cNvPr id="12" name="Image 2" descr="preencoded.png"/>
          <p:cNvPicPr>
            <a:picLocks noChangeAspect="1"/>
          </p:cNvPicPr>
          <p:nvPr/>
        </p:nvPicPr>
        <p:blipFill>
          <a:blip r:embed="rId5"/>
          <a:stretch>
            <a:fillRect/>
          </a:stretch>
        </p:blipFill>
        <p:spPr>
          <a:xfrm>
            <a:off x="182880" y="2212848"/>
            <a:ext cx="4206240" cy="749808"/>
          </a:xfrm>
          <a:prstGeom prst="rect">
            <a:avLst/>
          </a:prstGeom>
        </p:spPr>
      </p:pic>
      <p:sp>
        <p:nvSpPr>
          <p:cNvPr id="13" name="Text 8"/>
          <p:cNvSpPr/>
          <p:nvPr/>
        </p:nvSpPr>
        <p:spPr>
          <a:xfrm>
            <a:off x="4572000" y="1938528"/>
            <a:ext cx="4572000" cy="256032"/>
          </a:xfrm>
          <a:prstGeom prst="rect">
            <a:avLst/>
          </a:prstGeom>
          <a:noFill/>
          <a:ln/>
        </p:spPr>
        <p:txBody>
          <a:bodyPr wrap="square" rtlCol="0" anchor="ctr"/>
          <a:lstStyle/>
          <a:p>
            <a:pPr marL="0" indent="0">
              <a:buNone/>
            </a:pPr>
            <a:r>
              <a:rPr lang="en-US" sz="1100" b="1" dirty="0">
                <a:solidFill>
                  <a:srgbClr val="F5A623"/>
                </a:solidFill>
              </a:rPr>
              <a:t>Advanced – Termination Protection Enabled</a:t>
            </a:r>
            <a:endParaRPr lang="en-US" sz="1100" dirty="0"/>
          </a:p>
        </p:txBody>
      </p:sp>
      <p:pic>
        <p:nvPicPr>
          <p:cNvPr id="14" name="Image 3" descr="preencoded.png"/>
          <p:cNvPicPr>
            <a:picLocks noChangeAspect="1"/>
          </p:cNvPicPr>
          <p:nvPr/>
        </p:nvPicPr>
        <p:blipFill>
          <a:blip r:embed="rId6"/>
          <a:stretch>
            <a:fillRect/>
          </a:stretch>
        </p:blipFill>
        <p:spPr>
          <a:xfrm>
            <a:off x="4572000" y="2212848"/>
            <a:ext cx="4389120" cy="749808"/>
          </a:xfrm>
          <a:prstGeom prst="rect">
            <a:avLst/>
          </a:prstGeom>
        </p:spPr>
      </p:pic>
      <p:sp>
        <p:nvSpPr>
          <p:cNvPr id="15" name="Text 9"/>
          <p:cNvSpPr/>
          <p:nvPr/>
        </p:nvSpPr>
        <p:spPr>
          <a:xfrm>
            <a:off x="182880" y="3090672"/>
            <a:ext cx="8686800" cy="256032"/>
          </a:xfrm>
          <a:prstGeom prst="rect">
            <a:avLst/>
          </a:prstGeom>
          <a:noFill/>
          <a:ln/>
        </p:spPr>
        <p:txBody>
          <a:bodyPr wrap="square" rtlCol="0" anchor="ctr"/>
          <a:lstStyle/>
          <a:p>
            <a:pPr marL="0" indent="0">
              <a:buNone/>
            </a:pPr>
            <a:r>
              <a:rPr lang="en-US" sz="1100" b="1" dirty="0">
                <a:solidFill>
                  <a:srgbClr val="F5A623"/>
                </a:solidFill>
              </a:rPr>
              <a:t>Instance Successfully Launched</a:t>
            </a:r>
            <a:endParaRPr lang="en-US" sz="1100" dirty="0"/>
          </a:p>
        </p:txBody>
      </p:sp>
      <p:pic>
        <p:nvPicPr>
          <p:cNvPr id="16" name="Image 4" descr="preencoded.png"/>
          <p:cNvPicPr>
            <a:picLocks noChangeAspect="1"/>
          </p:cNvPicPr>
          <p:nvPr/>
        </p:nvPicPr>
        <p:blipFill>
          <a:blip r:embed="rId7"/>
          <a:stretch>
            <a:fillRect/>
          </a:stretch>
        </p:blipFill>
        <p:spPr>
          <a:xfrm>
            <a:off x="182880" y="3364992"/>
            <a:ext cx="8686800" cy="502920"/>
          </a:xfrm>
          <a:prstGeom prst="rect">
            <a:avLst/>
          </a:prstGeom>
        </p:spPr>
      </p:pic>
      <p:pic>
        <p:nvPicPr>
          <p:cNvPr id="17" name="Image 5" descr="preencoded.png"/>
          <p:cNvPicPr>
            <a:picLocks noChangeAspect="1"/>
          </p:cNvPicPr>
          <p:nvPr/>
        </p:nvPicPr>
        <p:blipFill>
          <a:blip r:embed="rId8"/>
          <a:stretch>
            <a:fillRect/>
          </a:stretch>
        </p:blipFill>
        <p:spPr>
          <a:xfrm>
            <a:off x="182880" y="3931920"/>
            <a:ext cx="8686800" cy="502920"/>
          </a:xfrm>
          <a:prstGeom prst="rect">
            <a:avLst/>
          </a:prstGeom>
        </p:spPr>
      </p:pic>
      <p:sp>
        <p:nvSpPr>
          <p:cNvPr id="18" name="Shape 10"/>
          <p:cNvSpPr/>
          <p:nvPr/>
        </p:nvSpPr>
        <p:spPr>
          <a:xfrm>
            <a:off x="0" y="4800600"/>
            <a:ext cx="9144000" cy="342900"/>
          </a:xfrm>
          <a:prstGeom prst="rect">
            <a:avLst/>
          </a:prstGeom>
          <a:solidFill>
            <a:srgbClr val="12203A"/>
          </a:solidFill>
          <a:ln w="12700">
            <a:solidFill>
              <a:srgbClr val="12203A"/>
            </a:solidFill>
            <a:prstDash val="solid"/>
          </a:ln>
        </p:spPr>
      </p:sp>
      <p:sp>
        <p:nvSpPr>
          <p:cNvPr id="19" name="Text 11"/>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2 – Monitor &amp; Manage EC2 Instance</a:t>
            </a:r>
            <a:endParaRPr lang="en-US" sz="2200" dirty="0"/>
          </a:p>
        </p:txBody>
      </p:sp>
      <p:sp>
        <p:nvSpPr>
          <p:cNvPr id="5" name="Text 3"/>
          <p:cNvSpPr/>
          <p:nvPr/>
        </p:nvSpPr>
        <p:spPr>
          <a:xfrm>
            <a:off x="91440" y="594360"/>
            <a:ext cx="8686800" cy="365760"/>
          </a:xfrm>
          <a:prstGeom prst="rect">
            <a:avLst/>
          </a:prstGeom>
          <a:noFill/>
          <a:ln/>
        </p:spPr>
        <p:txBody>
          <a:bodyPr wrap="square" rtlCol="0" anchor="ctr"/>
          <a:lstStyle/>
          <a:p>
            <a:pPr marL="0" indent="0">
              <a:buNone/>
            </a:pPr>
            <a:r>
              <a:rPr lang="en-US" sz="1200" i="1" dirty="0">
                <a:solidFill>
                  <a:srgbClr val="F5A623"/>
                </a:solidFill>
              </a:rPr>
              <a:t>Module 6 Lab-3 · AWS Academy</a:t>
            </a:r>
            <a:endParaRPr lang="en-US" sz="1200" dirty="0"/>
          </a:p>
        </p:txBody>
      </p:sp>
      <p:sp>
        <p:nvSpPr>
          <p:cNvPr id="6" name="Shape 4"/>
          <p:cNvSpPr/>
          <p:nvPr/>
        </p:nvSpPr>
        <p:spPr>
          <a:xfrm>
            <a:off x="0" y="4800600"/>
            <a:ext cx="9144000" cy="342900"/>
          </a:xfrm>
          <a:prstGeom prst="rect">
            <a:avLst/>
          </a:prstGeom>
          <a:solidFill>
            <a:srgbClr val="12203A"/>
          </a:solidFill>
          <a:ln w="12700">
            <a:solidFill>
              <a:srgbClr val="12203A"/>
            </a:solidFill>
            <a:prstDash val="solid"/>
          </a:ln>
        </p:spPr>
      </p:sp>
      <p:sp>
        <p:nvSpPr>
          <p:cNvPr id="7" name="Text 5"/>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8" name="Shape 6"/>
          <p:cNvSpPr/>
          <p:nvPr/>
        </p:nvSpPr>
        <p:spPr>
          <a:xfrm>
            <a:off x="164592" y="914400"/>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9" name="Shape 7"/>
          <p:cNvSpPr/>
          <p:nvPr/>
        </p:nvSpPr>
        <p:spPr>
          <a:xfrm>
            <a:off x="164592" y="914400"/>
            <a:ext cx="91440" cy="758952"/>
          </a:xfrm>
          <a:prstGeom prst="rect">
            <a:avLst/>
          </a:prstGeom>
          <a:solidFill>
            <a:srgbClr val="F5A623"/>
          </a:solidFill>
          <a:ln w="12700">
            <a:solidFill>
              <a:srgbClr val="F5A623"/>
            </a:solidFill>
            <a:prstDash val="solid"/>
          </a:ln>
        </p:spPr>
      </p:sp>
      <p:sp>
        <p:nvSpPr>
          <p:cNvPr id="10" name="Text 8"/>
          <p:cNvSpPr/>
          <p:nvPr/>
        </p:nvSpPr>
        <p:spPr>
          <a:xfrm>
            <a:off x="329184" y="950976"/>
            <a:ext cx="4023360" cy="274320"/>
          </a:xfrm>
          <a:prstGeom prst="rect">
            <a:avLst/>
          </a:prstGeom>
          <a:noFill/>
          <a:ln/>
        </p:spPr>
        <p:txBody>
          <a:bodyPr wrap="square" rtlCol="0" anchor="ctr"/>
          <a:lstStyle/>
          <a:p>
            <a:pPr marL="0" indent="0">
              <a:buNone/>
            </a:pPr>
            <a:r>
              <a:rPr lang="en-US" sz="1100" b="1" dirty="0">
                <a:solidFill>
                  <a:srgbClr val="1C2B4A"/>
                </a:solidFill>
              </a:rPr>
              <a:t>Status Checks</a:t>
            </a:r>
            <a:endParaRPr lang="en-US" sz="1100" dirty="0"/>
          </a:p>
        </p:txBody>
      </p:sp>
      <p:sp>
        <p:nvSpPr>
          <p:cNvPr id="11" name="Text 9"/>
          <p:cNvSpPr/>
          <p:nvPr/>
        </p:nvSpPr>
        <p:spPr>
          <a:xfrm>
            <a:off x="329184" y="1225296"/>
            <a:ext cx="3977640" cy="402336"/>
          </a:xfrm>
          <a:prstGeom prst="rect">
            <a:avLst/>
          </a:prstGeom>
          <a:noFill/>
          <a:ln/>
        </p:spPr>
        <p:txBody>
          <a:bodyPr wrap="square" rtlCol="0" anchor="ctr"/>
          <a:lstStyle/>
          <a:p>
            <a:pPr marL="0" indent="0">
              <a:buNone/>
            </a:pPr>
            <a:r>
              <a:rPr lang="en-US" sz="1000" dirty="0">
                <a:solidFill>
                  <a:srgbClr val="5A6A7A"/>
                </a:solidFill>
              </a:rPr>
              <a:t>Verified system &amp; instance health — both passed (2/2 checks)</a:t>
            </a:r>
            <a:endParaRPr lang="en-US" sz="1000" dirty="0"/>
          </a:p>
        </p:txBody>
      </p:sp>
      <p:sp>
        <p:nvSpPr>
          <p:cNvPr id="12" name="Shape 10"/>
          <p:cNvSpPr/>
          <p:nvPr/>
        </p:nvSpPr>
        <p:spPr>
          <a:xfrm>
            <a:off x="4663440" y="914400"/>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13" name="Shape 11"/>
          <p:cNvSpPr/>
          <p:nvPr/>
        </p:nvSpPr>
        <p:spPr>
          <a:xfrm>
            <a:off x="4663440" y="914400"/>
            <a:ext cx="91440" cy="758952"/>
          </a:xfrm>
          <a:prstGeom prst="rect">
            <a:avLst/>
          </a:prstGeom>
          <a:solidFill>
            <a:srgbClr val="F5A623"/>
          </a:solidFill>
          <a:ln w="12700">
            <a:solidFill>
              <a:srgbClr val="F5A623"/>
            </a:solidFill>
            <a:prstDash val="solid"/>
          </a:ln>
        </p:spPr>
      </p:sp>
      <p:sp>
        <p:nvSpPr>
          <p:cNvPr id="14" name="Text 12"/>
          <p:cNvSpPr/>
          <p:nvPr/>
        </p:nvSpPr>
        <p:spPr>
          <a:xfrm>
            <a:off x="4828032" y="950976"/>
            <a:ext cx="4023360" cy="274320"/>
          </a:xfrm>
          <a:prstGeom prst="rect">
            <a:avLst/>
          </a:prstGeom>
          <a:noFill/>
          <a:ln/>
        </p:spPr>
        <p:txBody>
          <a:bodyPr wrap="square" rtlCol="0" anchor="ctr"/>
          <a:lstStyle/>
          <a:p>
            <a:pPr marL="0" indent="0">
              <a:buNone/>
            </a:pPr>
            <a:r>
              <a:rPr lang="en-US" sz="1100" b="1" dirty="0">
                <a:solidFill>
                  <a:srgbClr val="1C2B4A"/>
                </a:solidFill>
              </a:rPr>
              <a:t>CloudWatch Monitoring</a:t>
            </a:r>
            <a:endParaRPr lang="en-US" sz="1100" dirty="0"/>
          </a:p>
        </p:txBody>
      </p:sp>
      <p:sp>
        <p:nvSpPr>
          <p:cNvPr id="15" name="Text 13"/>
          <p:cNvSpPr/>
          <p:nvPr/>
        </p:nvSpPr>
        <p:spPr>
          <a:xfrm>
            <a:off x="4828032" y="1225296"/>
            <a:ext cx="3977640" cy="402336"/>
          </a:xfrm>
          <a:prstGeom prst="rect">
            <a:avLst/>
          </a:prstGeom>
          <a:noFill/>
          <a:ln/>
        </p:spPr>
        <p:txBody>
          <a:bodyPr wrap="square" rtlCol="0" anchor="ctr"/>
          <a:lstStyle/>
          <a:p>
            <a:pPr marL="0" indent="0">
              <a:buNone/>
            </a:pPr>
            <a:r>
              <a:rPr lang="en-US" sz="1000" dirty="0">
                <a:solidFill>
                  <a:srgbClr val="5A6A7A"/>
                </a:solidFill>
              </a:rPr>
              <a:t>CPU Utilization, Network In/Out, Disk Read/Write observed in real time</a:t>
            </a:r>
            <a:endParaRPr lang="en-US" sz="1000" dirty="0"/>
          </a:p>
        </p:txBody>
      </p:sp>
      <p:sp>
        <p:nvSpPr>
          <p:cNvPr id="16" name="Shape 14"/>
          <p:cNvSpPr/>
          <p:nvPr/>
        </p:nvSpPr>
        <p:spPr>
          <a:xfrm>
            <a:off x="164592" y="1810512"/>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17" name="Shape 15"/>
          <p:cNvSpPr/>
          <p:nvPr/>
        </p:nvSpPr>
        <p:spPr>
          <a:xfrm>
            <a:off x="164592" y="1810512"/>
            <a:ext cx="91440" cy="758952"/>
          </a:xfrm>
          <a:prstGeom prst="rect">
            <a:avLst/>
          </a:prstGeom>
          <a:solidFill>
            <a:srgbClr val="F5A623"/>
          </a:solidFill>
          <a:ln w="12700">
            <a:solidFill>
              <a:srgbClr val="F5A623"/>
            </a:solidFill>
            <a:prstDash val="solid"/>
          </a:ln>
        </p:spPr>
      </p:sp>
      <p:sp>
        <p:nvSpPr>
          <p:cNvPr id="18" name="Text 16"/>
          <p:cNvSpPr/>
          <p:nvPr/>
        </p:nvSpPr>
        <p:spPr>
          <a:xfrm>
            <a:off x="329184" y="1847088"/>
            <a:ext cx="4023360" cy="274320"/>
          </a:xfrm>
          <a:prstGeom prst="rect">
            <a:avLst/>
          </a:prstGeom>
          <a:noFill/>
          <a:ln/>
        </p:spPr>
        <p:txBody>
          <a:bodyPr wrap="square" rtlCol="0" anchor="ctr"/>
          <a:lstStyle/>
          <a:p>
            <a:pPr marL="0" indent="0">
              <a:buNone/>
            </a:pPr>
            <a:r>
              <a:rPr lang="en-US" sz="1100" b="1" dirty="0">
                <a:solidFill>
                  <a:srgbClr val="1C2B4A"/>
                </a:solidFill>
              </a:rPr>
              <a:t>System Log</a:t>
            </a:r>
            <a:endParaRPr lang="en-US" sz="1100" dirty="0"/>
          </a:p>
        </p:txBody>
      </p:sp>
      <p:sp>
        <p:nvSpPr>
          <p:cNvPr id="19" name="Text 17"/>
          <p:cNvSpPr/>
          <p:nvPr/>
        </p:nvSpPr>
        <p:spPr>
          <a:xfrm>
            <a:off x="329184" y="2121408"/>
            <a:ext cx="3977640" cy="402336"/>
          </a:xfrm>
          <a:prstGeom prst="rect">
            <a:avLst/>
          </a:prstGeom>
          <a:noFill/>
          <a:ln/>
        </p:spPr>
        <p:txBody>
          <a:bodyPr wrap="square" rtlCol="0" anchor="ctr"/>
          <a:lstStyle/>
          <a:p>
            <a:pPr marL="0" indent="0">
              <a:buNone/>
            </a:pPr>
            <a:r>
              <a:rPr lang="en-US" sz="1000" dirty="0">
                <a:solidFill>
                  <a:srgbClr val="5A6A7A"/>
                </a:solidFill>
              </a:rPr>
              <a:t>Retrieved OS boot log via Monitor &amp; Troubleshoot menu</a:t>
            </a:r>
            <a:endParaRPr lang="en-US" sz="1000" dirty="0"/>
          </a:p>
        </p:txBody>
      </p:sp>
      <p:sp>
        <p:nvSpPr>
          <p:cNvPr id="20" name="Shape 18"/>
          <p:cNvSpPr/>
          <p:nvPr/>
        </p:nvSpPr>
        <p:spPr>
          <a:xfrm>
            <a:off x="4663440" y="1810512"/>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21" name="Shape 19"/>
          <p:cNvSpPr/>
          <p:nvPr/>
        </p:nvSpPr>
        <p:spPr>
          <a:xfrm>
            <a:off x="4663440" y="1810512"/>
            <a:ext cx="91440" cy="758952"/>
          </a:xfrm>
          <a:prstGeom prst="rect">
            <a:avLst/>
          </a:prstGeom>
          <a:solidFill>
            <a:srgbClr val="F5A623"/>
          </a:solidFill>
          <a:ln w="12700">
            <a:solidFill>
              <a:srgbClr val="F5A623"/>
            </a:solidFill>
            <a:prstDash val="solid"/>
          </a:ln>
        </p:spPr>
      </p:sp>
      <p:sp>
        <p:nvSpPr>
          <p:cNvPr id="22" name="Text 20"/>
          <p:cNvSpPr/>
          <p:nvPr/>
        </p:nvSpPr>
        <p:spPr>
          <a:xfrm>
            <a:off x="4828032" y="1847088"/>
            <a:ext cx="4023360" cy="274320"/>
          </a:xfrm>
          <a:prstGeom prst="rect">
            <a:avLst/>
          </a:prstGeom>
          <a:noFill/>
          <a:ln/>
        </p:spPr>
        <p:txBody>
          <a:bodyPr wrap="square" rtlCol="0" anchor="ctr"/>
          <a:lstStyle/>
          <a:p>
            <a:pPr marL="0" indent="0">
              <a:buNone/>
            </a:pPr>
            <a:r>
              <a:rPr lang="en-US" sz="1100" b="1" dirty="0">
                <a:solidFill>
                  <a:srgbClr val="1C2B4A"/>
                </a:solidFill>
              </a:rPr>
              <a:t>Instance Screenshot</a:t>
            </a:r>
            <a:endParaRPr lang="en-US" sz="1100" dirty="0"/>
          </a:p>
        </p:txBody>
      </p:sp>
      <p:sp>
        <p:nvSpPr>
          <p:cNvPr id="23" name="Text 21"/>
          <p:cNvSpPr/>
          <p:nvPr/>
        </p:nvSpPr>
        <p:spPr>
          <a:xfrm>
            <a:off x="4828032" y="2121408"/>
            <a:ext cx="3977640" cy="402336"/>
          </a:xfrm>
          <a:prstGeom prst="rect">
            <a:avLst/>
          </a:prstGeom>
          <a:noFill/>
          <a:ln/>
        </p:spPr>
        <p:txBody>
          <a:bodyPr wrap="square" rtlCol="0" anchor="ctr"/>
          <a:lstStyle/>
          <a:p>
            <a:pPr marL="0" indent="0">
              <a:buNone/>
            </a:pPr>
            <a:r>
              <a:rPr lang="en-US" sz="1000" dirty="0">
                <a:solidFill>
                  <a:srgbClr val="5A6A7A"/>
                </a:solidFill>
              </a:rPr>
              <a:t>Captured graphical console screenshot to verify OS state</a:t>
            </a:r>
            <a:endParaRPr lang="en-US" sz="1000" dirty="0"/>
          </a:p>
        </p:txBody>
      </p:sp>
      <p:sp>
        <p:nvSpPr>
          <p:cNvPr id="24" name="Shape 22"/>
          <p:cNvSpPr/>
          <p:nvPr/>
        </p:nvSpPr>
        <p:spPr>
          <a:xfrm>
            <a:off x="164592" y="2706624"/>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25" name="Shape 23"/>
          <p:cNvSpPr/>
          <p:nvPr/>
        </p:nvSpPr>
        <p:spPr>
          <a:xfrm>
            <a:off x="164592" y="2706624"/>
            <a:ext cx="91440" cy="758952"/>
          </a:xfrm>
          <a:prstGeom prst="rect">
            <a:avLst/>
          </a:prstGeom>
          <a:solidFill>
            <a:srgbClr val="F5A623"/>
          </a:solidFill>
          <a:ln w="12700">
            <a:solidFill>
              <a:srgbClr val="F5A623"/>
            </a:solidFill>
            <a:prstDash val="solid"/>
          </a:ln>
        </p:spPr>
      </p:sp>
      <p:sp>
        <p:nvSpPr>
          <p:cNvPr id="26" name="Text 24"/>
          <p:cNvSpPr/>
          <p:nvPr/>
        </p:nvSpPr>
        <p:spPr>
          <a:xfrm>
            <a:off x="329184" y="2743200"/>
            <a:ext cx="4023360" cy="274320"/>
          </a:xfrm>
          <a:prstGeom prst="rect">
            <a:avLst/>
          </a:prstGeom>
          <a:noFill/>
          <a:ln/>
        </p:spPr>
        <p:txBody>
          <a:bodyPr wrap="square" rtlCol="0" anchor="ctr"/>
          <a:lstStyle/>
          <a:p>
            <a:pPr marL="0" indent="0">
              <a:buNone/>
            </a:pPr>
            <a:r>
              <a:rPr lang="en-US" sz="1100" b="1" dirty="0">
                <a:solidFill>
                  <a:srgbClr val="1C2B4A"/>
                </a:solidFill>
              </a:rPr>
              <a:t>Security Group Update</a:t>
            </a:r>
            <a:endParaRPr lang="en-US" sz="1100" dirty="0"/>
          </a:p>
        </p:txBody>
      </p:sp>
      <p:sp>
        <p:nvSpPr>
          <p:cNvPr id="27" name="Text 25"/>
          <p:cNvSpPr/>
          <p:nvPr/>
        </p:nvSpPr>
        <p:spPr>
          <a:xfrm>
            <a:off x="329184" y="3017520"/>
            <a:ext cx="3977640" cy="402336"/>
          </a:xfrm>
          <a:prstGeom prst="rect">
            <a:avLst/>
          </a:prstGeom>
          <a:noFill/>
          <a:ln/>
        </p:spPr>
        <p:txBody>
          <a:bodyPr wrap="square" rtlCol="0" anchor="ctr"/>
          <a:lstStyle/>
          <a:p>
            <a:pPr marL="0" indent="0">
              <a:buNone/>
            </a:pPr>
            <a:r>
              <a:rPr lang="en-US" sz="1000" dirty="0">
                <a:solidFill>
                  <a:srgbClr val="5A6A7A"/>
                </a:solidFill>
              </a:rPr>
              <a:t>Added inbound HTTP (port 80) rule to allow web access</a:t>
            </a:r>
            <a:endParaRPr lang="en-US" sz="1000" dirty="0"/>
          </a:p>
        </p:txBody>
      </p:sp>
      <p:sp>
        <p:nvSpPr>
          <p:cNvPr id="28" name="Shape 26"/>
          <p:cNvSpPr/>
          <p:nvPr/>
        </p:nvSpPr>
        <p:spPr>
          <a:xfrm>
            <a:off x="4663440" y="2706624"/>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29" name="Shape 27"/>
          <p:cNvSpPr/>
          <p:nvPr/>
        </p:nvSpPr>
        <p:spPr>
          <a:xfrm>
            <a:off x="4663440" y="2706624"/>
            <a:ext cx="91440" cy="758952"/>
          </a:xfrm>
          <a:prstGeom prst="rect">
            <a:avLst/>
          </a:prstGeom>
          <a:solidFill>
            <a:srgbClr val="F5A623"/>
          </a:solidFill>
          <a:ln w="12700">
            <a:solidFill>
              <a:srgbClr val="F5A623"/>
            </a:solidFill>
            <a:prstDash val="solid"/>
          </a:ln>
        </p:spPr>
      </p:sp>
      <p:sp>
        <p:nvSpPr>
          <p:cNvPr id="30" name="Text 28"/>
          <p:cNvSpPr/>
          <p:nvPr/>
        </p:nvSpPr>
        <p:spPr>
          <a:xfrm>
            <a:off x="4828032" y="2743200"/>
            <a:ext cx="4023360" cy="274320"/>
          </a:xfrm>
          <a:prstGeom prst="rect">
            <a:avLst/>
          </a:prstGeom>
          <a:noFill/>
          <a:ln/>
        </p:spPr>
        <p:txBody>
          <a:bodyPr wrap="square" rtlCol="0" anchor="ctr"/>
          <a:lstStyle/>
          <a:p>
            <a:pPr marL="0" indent="0">
              <a:buNone/>
            </a:pPr>
            <a:r>
              <a:rPr lang="en-US" sz="1100" b="1" dirty="0">
                <a:solidFill>
                  <a:srgbClr val="1C2B4A"/>
                </a:solidFill>
              </a:rPr>
              <a:t>Resize Instance</a:t>
            </a:r>
            <a:endParaRPr lang="en-US" sz="1100" dirty="0"/>
          </a:p>
        </p:txBody>
      </p:sp>
      <p:sp>
        <p:nvSpPr>
          <p:cNvPr id="31" name="Text 29"/>
          <p:cNvSpPr/>
          <p:nvPr/>
        </p:nvSpPr>
        <p:spPr>
          <a:xfrm>
            <a:off x="4828032" y="3017520"/>
            <a:ext cx="3977640" cy="402336"/>
          </a:xfrm>
          <a:prstGeom prst="rect">
            <a:avLst/>
          </a:prstGeom>
          <a:noFill/>
          <a:ln/>
        </p:spPr>
        <p:txBody>
          <a:bodyPr wrap="square" rtlCol="0" anchor="ctr"/>
          <a:lstStyle/>
          <a:p>
            <a:pPr marL="0" indent="0">
              <a:buNone/>
            </a:pPr>
            <a:r>
              <a:rPr lang="en-US" sz="1000" dirty="0">
                <a:solidFill>
                  <a:srgbClr val="5A6A7A"/>
                </a:solidFill>
              </a:rPr>
              <a:t>Stopped → changed to t2.small → resized EBS to 10 GiB → restarted</a:t>
            </a:r>
            <a:endParaRPr lang="en-US" sz="1000" dirty="0"/>
          </a:p>
        </p:txBody>
      </p:sp>
      <p:sp>
        <p:nvSpPr>
          <p:cNvPr id="32" name="Shape 30"/>
          <p:cNvSpPr/>
          <p:nvPr/>
        </p:nvSpPr>
        <p:spPr>
          <a:xfrm>
            <a:off x="164592" y="3602736"/>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33" name="Shape 31"/>
          <p:cNvSpPr/>
          <p:nvPr/>
        </p:nvSpPr>
        <p:spPr>
          <a:xfrm>
            <a:off x="164592" y="3602736"/>
            <a:ext cx="91440" cy="758952"/>
          </a:xfrm>
          <a:prstGeom prst="rect">
            <a:avLst/>
          </a:prstGeom>
          <a:solidFill>
            <a:srgbClr val="F5A623"/>
          </a:solidFill>
          <a:ln w="12700">
            <a:solidFill>
              <a:srgbClr val="F5A623"/>
            </a:solidFill>
            <a:prstDash val="solid"/>
          </a:ln>
        </p:spPr>
      </p:sp>
      <p:sp>
        <p:nvSpPr>
          <p:cNvPr id="34" name="Text 32"/>
          <p:cNvSpPr/>
          <p:nvPr/>
        </p:nvSpPr>
        <p:spPr>
          <a:xfrm>
            <a:off x="329184" y="3639312"/>
            <a:ext cx="4023360" cy="274320"/>
          </a:xfrm>
          <a:prstGeom prst="rect">
            <a:avLst/>
          </a:prstGeom>
          <a:noFill/>
          <a:ln/>
        </p:spPr>
        <p:txBody>
          <a:bodyPr wrap="square" rtlCol="0" anchor="ctr"/>
          <a:lstStyle/>
          <a:p>
            <a:pPr marL="0" indent="0">
              <a:buNone/>
            </a:pPr>
            <a:r>
              <a:rPr lang="en-US" sz="1100" b="1" dirty="0">
                <a:solidFill>
                  <a:srgbClr val="1C2B4A"/>
                </a:solidFill>
              </a:rPr>
              <a:t>EC2 Limits</a:t>
            </a:r>
            <a:endParaRPr lang="en-US" sz="1100" dirty="0"/>
          </a:p>
        </p:txBody>
      </p:sp>
      <p:sp>
        <p:nvSpPr>
          <p:cNvPr id="35" name="Text 33"/>
          <p:cNvSpPr/>
          <p:nvPr/>
        </p:nvSpPr>
        <p:spPr>
          <a:xfrm>
            <a:off x="329184" y="3913632"/>
            <a:ext cx="3977640" cy="402336"/>
          </a:xfrm>
          <a:prstGeom prst="rect">
            <a:avLst/>
          </a:prstGeom>
          <a:noFill/>
          <a:ln/>
        </p:spPr>
        <p:txBody>
          <a:bodyPr wrap="square" rtlCol="0" anchor="ctr"/>
          <a:lstStyle/>
          <a:p>
            <a:pPr marL="0" indent="0">
              <a:buNone/>
            </a:pPr>
            <a:r>
              <a:rPr lang="en-US" sz="1000" dirty="0">
                <a:solidFill>
                  <a:srgbClr val="5A6A7A"/>
                </a:solidFill>
              </a:rPr>
              <a:t>Explored Service Quotas for running on-demand instances</a:t>
            </a:r>
            <a:endParaRPr lang="en-US" sz="1000" dirty="0"/>
          </a:p>
        </p:txBody>
      </p:sp>
      <p:sp>
        <p:nvSpPr>
          <p:cNvPr id="36" name="Shape 34"/>
          <p:cNvSpPr/>
          <p:nvPr/>
        </p:nvSpPr>
        <p:spPr>
          <a:xfrm>
            <a:off x="4663440" y="3602736"/>
            <a:ext cx="4297680" cy="758952"/>
          </a:xfrm>
          <a:prstGeom prst="rect">
            <a:avLst/>
          </a:prstGeom>
          <a:solidFill>
            <a:srgbClr val="FFFFFF"/>
          </a:solidFill>
          <a:ln/>
          <a:effectLst>
            <a:outerShdw blurRad="63500" dist="12700" dir="8100000" algn="bl" rotWithShape="0">
              <a:srgbClr val="000000">
                <a:alpha val="8000"/>
              </a:srgbClr>
            </a:outerShdw>
          </a:effectLst>
        </p:spPr>
      </p:sp>
      <p:sp>
        <p:nvSpPr>
          <p:cNvPr id="37" name="Shape 35"/>
          <p:cNvSpPr/>
          <p:nvPr/>
        </p:nvSpPr>
        <p:spPr>
          <a:xfrm>
            <a:off x="4663440" y="3602736"/>
            <a:ext cx="91440" cy="758952"/>
          </a:xfrm>
          <a:prstGeom prst="rect">
            <a:avLst/>
          </a:prstGeom>
          <a:solidFill>
            <a:srgbClr val="F5A623"/>
          </a:solidFill>
          <a:ln w="12700">
            <a:solidFill>
              <a:srgbClr val="F5A623"/>
            </a:solidFill>
            <a:prstDash val="solid"/>
          </a:ln>
        </p:spPr>
      </p:sp>
      <p:sp>
        <p:nvSpPr>
          <p:cNvPr id="38" name="Text 36"/>
          <p:cNvSpPr/>
          <p:nvPr/>
        </p:nvSpPr>
        <p:spPr>
          <a:xfrm>
            <a:off x="4828032" y="3639312"/>
            <a:ext cx="4023360" cy="274320"/>
          </a:xfrm>
          <a:prstGeom prst="rect">
            <a:avLst/>
          </a:prstGeom>
          <a:noFill/>
          <a:ln/>
        </p:spPr>
        <p:txBody>
          <a:bodyPr wrap="square" rtlCol="0" anchor="ctr"/>
          <a:lstStyle/>
          <a:p>
            <a:pPr marL="0" indent="0">
              <a:buNone/>
            </a:pPr>
            <a:r>
              <a:rPr lang="en-US" sz="1100" b="1" dirty="0">
                <a:solidFill>
                  <a:srgbClr val="1C2B4A"/>
                </a:solidFill>
              </a:rPr>
              <a:t>Stop Protection</a:t>
            </a:r>
            <a:endParaRPr lang="en-US" sz="1100" dirty="0"/>
          </a:p>
        </p:txBody>
      </p:sp>
      <p:sp>
        <p:nvSpPr>
          <p:cNvPr id="39" name="Text 37"/>
          <p:cNvSpPr/>
          <p:nvPr/>
        </p:nvSpPr>
        <p:spPr>
          <a:xfrm>
            <a:off x="4828032" y="3913632"/>
            <a:ext cx="3977640" cy="402336"/>
          </a:xfrm>
          <a:prstGeom prst="rect">
            <a:avLst/>
          </a:prstGeom>
          <a:noFill/>
          <a:ln/>
        </p:spPr>
        <p:txBody>
          <a:bodyPr wrap="square" rtlCol="0" anchor="ctr"/>
          <a:lstStyle/>
          <a:p>
            <a:pPr marL="0" indent="0">
              <a:buNone/>
            </a:pPr>
            <a:r>
              <a:rPr lang="en-US" sz="1000" dirty="0">
                <a:solidFill>
                  <a:srgbClr val="5A6A7A"/>
                </a:solidFill>
              </a:rPr>
              <a:t>Tested stop protection: blocked until explicitly disabled</a:t>
            </a:r>
            <a:endParaRPr lang="en-US" sz="1000" dirty="0"/>
          </a:p>
        </p:txBody>
      </p:sp>
      <p:sp>
        <p:nvSpPr>
          <p:cNvPr id="40" name="Shape 38"/>
          <p:cNvSpPr/>
          <p:nvPr/>
        </p:nvSpPr>
        <p:spPr>
          <a:xfrm>
            <a:off x="0" y="4800600"/>
            <a:ext cx="9144000" cy="342900"/>
          </a:xfrm>
          <a:prstGeom prst="rect">
            <a:avLst/>
          </a:prstGeom>
          <a:solidFill>
            <a:srgbClr val="12203A"/>
          </a:solidFill>
          <a:ln w="12700">
            <a:solidFill>
              <a:srgbClr val="12203A"/>
            </a:solidFill>
            <a:prstDash val="solid"/>
          </a:ln>
        </p:spPr>
      </p:sp>
      <p:sp>
        <p:nvSpPr>
          <p:cNvPr id="41" name="Text 39"/>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2 – Status Checks &amp; CloudWatch Monitoring</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4572000" cy="256032"/>
          </a:xfrm>
          <a:prstGeom prst="rect">
            <a:avLst/>
          </a:prstGeom>
          <a:noFill/>
          <a:ln/>
        </p:spPr>
        <p:txBody>
          <a:bodyPr wrap="square" rtlCol="0" anchor="ctr"/>
          <a:lstStyle/>
          <a:p>
            <a:pPr marL="0" indent="0">
              <a:buNone/>
            </a:pPr>
            <a:r>
              <a:rPr lang="en-US" sz="1100" b="1" dirty="0">
                <a:solidFill>
                  <a:srgbClr val="F5A623"/>
                </a:solidFill>
              </a:rPr>
              <a:t>Status Check – 2/2 checks passed</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749808"/>
          </a:xfrm>
          <a:prstGeom prst="rect">
            <a:avLst/>
          </a:prstGeom>
        </p:spPr>
      </p:pic>
      <p:sp>
        <p:nvSpPr>
          <p:cNvPr id="9" name="Text 6"/>
          <p:cNvSpPr/>
          <p:nvPr/>
        </p:nvSpPr>
        <p:spPr>
          <a:xfrm>
            <a:off x="4572000" y="749808"/>
            <a:ext cx="4572000" cy="256032"/>
          </a:xfrm>
          <a:prstGeom prst="rect">
            <a:avLst/>
          </a:prstGeom>
          <a:noFill/>
          <a:ln/>
        </p:spPr>
        <p:txBody>
          <a:bodyPr wrap="square" rtlCol="0" anchor="ctr"/>
          <a:lstStyle/>
          <a:p>
            <a:pPr marL="0" indent="0">
              <a:buNone/>
            </a:pPr>
            <a:r>
              <a:rPr lang="en-US" sz="1100" b="1" dirty="0">
                <a:solidFill>
                  <a:srgbClr val="F5A623"/>
                </a:solidFill>
              </a:rPr>
              <a:t>CloudWatch Monitoring Tab</a:t>
            </a:r>
            <a:endParaRPr lang="en-US" sz="1100" dirty="0"/>
          </a:p>
        </p:txBody>
      </p:sp>
      <p:pic>
        <p:nvPicPr>
          <p:cNvPr id="10" name="Image 1" descr="preencoded.png"/>
          <p:cNvPicPr>
            <a:picLocks noChangeAspect="1"/>
          </p:cNvPicPr>
          <p:nvPr/>
        </p:nvPicPr>
        <p:blipFill>
          <a:blip r:embed="rId4"/>
          <a:stretch>
            <a:fillRect/>
          </a:stretch>
        </p:blipFill>
        <p:spPr>
          <a:xfrm>
            <a:off x="4572000" y="1005840"/>
            <a:ext cx="4343400" cy="749808"/>
          </a:xfrm>
          <a:prstGeom prst="rect">
            <a:avLst/>
          </a:prstGeom>
        </p:spPr>
      </p:pic>
      <p:sp>
        <p:nvSpPr>
          <p:cNvPr id="11" name="Text 7"/>
          <p:cNvSpPr/>
          <p:nvPr/>
        </p:nvSpPr>
        <p:spPr>
          <a:xfrm>
            <a:off x="182880" y="1892808"/>
            <a:ext cx="4572000" cy="256032"/>
          </a:xfrm>
          <a:prstGeom prst="rect">
            <a:avLst/>
          </a:prstGeom>
          <a:noFill/>
          <a:ln/>
        </p:spPr>
        <p:txBody>
          <a:bodyPr wrap="square" rtlCol="0" anchor="ctr"/>
          <a:lstStyle/>
          <a:p>
            <a:pPr marL="0" indent="0">
              <a:buNone/>
            </a:pPr>
            <a:r>
              <a:rPr lang="en-US" sz="1100" b="1" dirty="0">
                <a:solidFill>
                  <a:srgbClr val="F5A623"/>
                </a:solidFill>
              </a:rPr>
              <a:t>System Log (OS Boot Log)</a:t>
            </a:r>
            <a:endParaRPr lang="en-US" sz="1100" dirty="0"/>
          </a:p>
        </p:txBody>
      </p:sp>
      <p:pic>
        <p:nvPicPr>
          <p:cNvPr id="12" name="Image 2" descr="preencoded.png"/>
          <p:cNvPicPr>
            <a:picLocks noChangeAspect="1"/>
          </p:cNvPicPr>
          <p:nvPr/>
        </p:nvPicPr>
        <p:blipFill>
          <a:blip r:embed="rId5"/>
          <a:stretch>
            <a:fillRect/>
          </a:stretch>
        </p:blipFill>
        <p:spPr>
          <a:xfrm>
            <a:off x="182880" y="2167128"/>
            <a:ext cx="4206240" cy="987552"/>
          </a:xfrm>
          <a:prstGeom prst="rect">
            <a:avLst/>
          </a:prstGeom>
        </p:spPr>
      </p:pic>
      <p:sp>
        <p:nvSpPr>
          <p:cNvPr id="13" name="Text 8"/>
          <p:cNvSpPr/>
          <p:nvPr/>
        </p:nvSpPr>
        <p:spPr>
          <a:xfrm>
            <a:off x="4572000" y="1892808"/>
            <a:ext cx="4572000" cy="256032"/>
          </a:xfrm>
          <a:prstGeom prst="rect">
            <a:avLst/>
          </a:prstGeom>
          <a:noFill/>
          <a:ln/>
        </p:spPr>
        <p:txBody>
          <a:bodyPr wrap="square" rtlCol="0" anchor="ctr"/>
          <a:lstStyle/>
          <a:p>
            <a:pPr marL="0" indent="0">
              <a:buNone/>
            </a:pPr>
            <a:r>
              <a:rPr lang="en-US" sz="1100" b="1" dirty="0">
                <a:solidFill>
                  <a:srgbClr val="F5A623"/>
                </a:solidFill>
              </a:rPr>
              <a:t>Instance Screenshot (Console)</a:t>
            </a:r>
            <a:endParaRPr lang="en-US" sz="1100" dirty="0"/>
          </a:p>
        </p:txBody>
      </p:sp>
      <p:pic>
        <p:nvPicPr>
          <p:cNvPr id="14" name="Image 3" descr="preencoded.png"/>
          <p:cNvPicPr>
            <a:picLocks noChangeAspect="1"/>
          </p:cNvPicPr>
          <p:nvPr/>
        </p:nvPicPr>
        <p:blipFill>
          <a:blip r:embed="rId6"/>
          <a:stretch>
            <a:fillRect/>
          </a:stretch>
        </p:blipFill>
        <p:spPr>
          <a:xfrm>
            <a:off x="4572000" y="2167128"/>
            <a:ext cx="4343400" cy="987552"/>
          </a:xfrm>
          <a:prstGeom prst="rect">
            <a:avLst/>
          </a:prstGeom>
        </p:spPr>
      </p:pic>
      <p:sp>
        <p:nvSpPr>
          <p:cNvPr id="15" name="Text 9"/>
          <p:cNvSpPr/>
          <p:nvPr/>
        </p:nvSpPr>
        <p:spPr>
          <a:xfrm>
            <a:off x="182880" y="3291840"/>
            <a:ext cx="8686800" cy="256032"/>
          </a:xfrm>
          <a:prstGeom prst="rect">
            <a:avLst/>
          </a:prstGeom>
          <a:noFill/>
          <a:ln/>
        </p:spPr>
        <p:txBody>
          <a:bodyPr wrap="square" rtlCol="0" anchor="ctr"/>
          <a:lstStyle/>
          <a:p>
            <a:pPr marL="0" indent="0">
              <a:buNone/>
            </a:pPr>
            <a:r>
              <a:rPr lang="en-US" sz="1100" b="1" dirty="0">
                <a:solidFill>
                  <a:srgbClr val="F5A623"/>
                </a:solidFill>
              </a:rPr>
              <a:t>IPv4 Address – HTTP Access via Browser</a:t>
            </a:r>
            <a:endParaRPr lang="en-US" sz="1100" dirty="0"/>
          </a:p>
        </p:txBody>
      </p:sp>
      <p:pic>
        <p:nvPicPr>
          <p:cNvPr id="16" name="Image 4" descr="preencoded.png"/>
          <p:cNvPicPr>
            <a:picLocks noChangeAspect="1"/>
          </p:cNvPicPr>
          <p:nvPr/>
        </p:nvPicPr>
        <p:blipFill>
          <a:blip r:embed="rId7"/>
          <a:stretch>
            <a:fillRect/>
          </a:stretch>
        </p:blipFill>
        <p:spPr>
          <a:xfrm>
            <a:off x="182880" y="3566160"/>
            <a:ext cx="4206240" cy="731520"/>
          </a:xfrm>
          <a:prstGeom prst="rect">
            <a:avLst/>
          </a:prstGeom>
        </p:spPr>
      </p:pic>
      <p:pic>
        <p:nvPicPr>
          <p:cNvPr id="17" name="Image 5" descr="preencoded.png"/>
          <p:cNvPicPr>
            <a:picLocks noChangeAspect="1"/>
          </p:cNvPicPr>
          <p:nvPr/>
        </p:nvPicPr>
        <p:blipFill>
          <a:blip r:embed="rId8"/>
          <a:stretch>
            <a:fillRect/>
          </a:stretch>
        </p:blipFill>
        <p:spPr>
          <a:xfrm>
            <a:off x="4572000" y="3566160"/>
            <a:ext cx="4343400" cy="731520"/>
          </a:xfrm>
          <a:prstGeom prst="rect">
            <a:avLst/>
          </a:prstGeom>
        </p:spPr>
      </p:pic>
      <p:sp>
        <p:nvSpPr>
          <p:cNvPr id="18" name="Shape 10"/>
          <p:cNvSpPr/>
          <p:nvPr/>
        </p:nvSpPr>
        <p:spPr>
          <a:xfrm>
            <a:off x="0" y="4800600"/>
            <a:ext cx="9144000" cy="342900"/>
          </a:xfrm>
          <a:prstGeom prst="rect">
            <a:avLst/>
          </a:prstGeom>
          <a:solidFill>
            <a:srgbClr val="12203A"/>
          </a:solidFill>
          <a:ln w="12700">
            <a:solidFill>
              <a:srgbClr val="12203A"/>
            </a:solidFill>
            <a:prstDash val="solid"/>
          </a:ln>
        </p:spPr>
      </p:sp>
      <p:sp>
        <p:nvSpPr>
          <p:cNvPr id="19" name="Text 11"/>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2 – Security Group Update &amp; Instance Resize</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4572000" cy="256032"/>
          </a:xfrm>
          <a:prstGeom prst="rect">
            <a:avLst/>
          </a:prstGeom>
          <a:noFill/>
          <a:ln/>
        </p:spPr>
        <p:txBody>
          <a:bodyPr wrap="square" rtlCol="0" anchor="ctr"/>
          <a:lstStyle/>
          <a:p>
            <a:pPr marL="0" indent="0">
              <a:buNone/>
            </a:pPr>
            <a:r>
              <a:rPr lang="en-US" sz="1100" b="1" dirty="0">
                <a:solidFill>
                  <a:srgbClr val="F5A623"/>
                </a:solidFill>
              </a:rPr>
              <a:t>Add HTTP Inbound Rule (Port 80)</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804672"/>
          </a:xfrm>
          <a:prstGeom prst="rect">
            <a:avLst/>
          </a:prstGeom>
        </p:spPr>
      </p:pic>
      <p:sp>
        <p:nvSpPr>
          <p:cNvPr id="9" name="Text 6"/>
          <p:cNvSpPr/>
          <p:nvPr/>
        </p:nvSpPr>
        <p:spPr>
          <a:xfrm>
            <a:off x="4572000" y="749808"/>
            <a:ext cx="4572000" cy="256032"/>
          </a:xfrm>
          <a:prstGeom prst="rect">
            <a:avLst/>
          </a:prstGeom>
          <a:noFill/>
          <a:ln/>
        </p:spPr>
        <p:txBody>
          <a:bodyPr wrap="square" rtlCol="0" anchor="ctr"/>
          <a:lstStyle/>
          <a:p>
            <a:pPr marL="0" indent="0">
              <a:buNone/>
            </a:pPr>
            <a:r>
              <a:rPr lang="en-US" sz="1100" b="1" dirty="0">
                <a:solidFill>
                  <a:srgbClr val="F5A623"/>
                </a:solidFill>
              </a:rPr>
              <a:t>Stop Instance before Resize</a:t>
            </a:r>
            <a:endParaRPr lang="en-US" sz="1100" dirty="0"/>
          </a:p>
        </p:txBody>
      </p:sp>
      <p:pic>
        <p:nvPicPr>
          <p:cNvPr id="10" name="Image 1" descr="preencoded.png"/>
          <p:cNvPicPr>
            <a:picLocks noChangeAspect="1"/>
          </p:cNvPicPr>
          <p:nvPr/>
        </p:nvPicPr>
        <p:blipFill>
          <a:blip r:embed="rId4"/>
          <a:stretch>
            <a:fillRect/>
          </a:stretch>
        </p:blipFill>
        <p:spPr>
          <a:xfrm>
            <a:off x="4572000" y="1005840"/>
            <a:ext cx="4343400" cy="804672"/>
          </a:xfrm>
          <a:prstGeom prst="rect">
            <a:avLst/>
          </a:prstGeom>
        </p:spPr>
      </p:pic>
      <p:sp>
        <p:nvSpPr>
          <p:cNvPr id="11" name="Text 7"/>
          <p:cNvSpPr/>
          <p:nvPr/>
        </p:nvSpPr>
        <p:spPr>
          <a:xfrm>
            <a:off x="182880" y="1938528"/>
            <a:ext cx="4572000" cy="256032"/>
          </a:xfrm>
          <a:prstGeom prst="rect">
            <a:avLst/>
          </a:prstGeom>
          <a:noFill/>
          <a:ln/>
        </p:spPr>
        <p:txBody>
          <a:bodyPr wrap="square" rtlCol="0" anchor="ctr"/>
          <a:lstStyle/>
          <a:p>
            <a:pPr marL="0" indent="0">
              <a:buNone/>
            </a:pPr>
            <a:r>
              <a:rPr lang="en-US" sz="1100" b="1" dirty="0">
                <a:solidFill>
                  <a:srgbClr val="F5A623"/>
                </a:solidFill>
              </a:rPr>
              <a:t>Change Instance Type to t2.small</a:t>
            </a:r>
            <a:endParaRPr lang="en-US" sz="1100" dirty="0"/>
          </a:p>
        </p:txBody>
      </p:sp>
      <p:pic>
        <p:nvPicPr>
          <p:cNvPr id="12" name="Image 2" descr="preencoded.png"/>
          <p:cNvPicPr>
            <a:picLocks noChangeAspect="1"/>
          </p:cNvPicPr>
          <p:nvPr/>
        </p:nvPicPr>
        <p:blipFill>
          <a:blip r:embed="rId5"/>
          <a:stretch>
            <a:fillRect/>
          </a:stretch>
        </p:blipFill>
        <p:spPr>
          <a:xfrm>
            <a:off x="182880" y="2212848"/>
            <a:ext cx="4206240" cy="804672"/>
          </a:xfrm>
          <a:prstGeom prst="rect">
            <a:avLst/>
          </a:prstGeom>
        </p:spPr>
      </p:pic>
      <p:sp>
        <p:nvSpPr>
          <p:cNvPr id="13" name="Text 8"/>
          <p:cNvSpPr/>
          <p:nvPr/>
        </p:nvSpPr>
        <p:spPr>
          <a:xfrm>
            <a:off x="4572000" y="1938528"/>
            <a:ext cx="4572000" cy="256032"/>
          </a:xfrm>
          <a:prstGeom prst="rect">
            <a:avLst/>
          </a:prstGeom>
          <a:noFill/>
          <a:ln/>
        </p:spPr>
        <p:txBody>
          <a:bodyPr wrap="square" rtlCol="0" anchor="ctr"/>
          <a:lstStyle/>
          <a:p>
            <a:pPr marL="0" indent="0">
              <a:buNone/>
            </a:pPr>
            <a:r>
              <a:rPr lang="en-US" sz="1100" b="1" dirty="0">
                <a:solidFill>
                  <a:srgbClr val="F5A623"/>
                </a:solidFill>
              </a:rPr>
              <a:t>Resize EBS Volume (10 GiB)</a:t>
            </a:r>
            <a:endParaRPr lang="en-US" sz="1100" dirty="0"/>
          </a:p>
        </p:txBody>
      </p:sp>
      <p:pic>
        <p:nvPicPr>
          <p:cNvPr id="14" name="Image 3" descr="preencoded.png"/>
          <p:cNvPicPr>
            <a:picLocks noChangeAspect="1"/>
          </p:cNvPicPr>
          <p:nvPr/>
        </p:nvPicPr>
        <p:blipFill>
          <a:blip r:embed="rId6"/>
          <a:stretch>
            <a:fillRect/>
          </a:stretch>
        </p:blipFill>
        <p:spPr>
          <a:xfrm>
            <a:off x="4572000" y="2212848"/>
            <a:ext cx="4343400" cy="804672"/>
          </a:xfrm>
          <a:prstGeom prst="rect">
            <a:avLst/>
          </a:prstGeom>
        </p:spPr>
      </p:pic>
      <p:sp>
        <p:nvSpPr>
          <p:cNvPr id="15" name="Text 9"/>
          <p:cNvSpPr/>
          <p:nvPr/>
        </p:nvSpPr>
        <p:spPr>
          <a:xfrm>
            <a:off x="182880" y="3145536"/>
            <a:ext cx="8686800" cy="256032"/>
          </a:xfrm>
          <a:prstGeom prst="rect">
            <a:avLst/>
          </a:prstGeom>
          <a:noFill/>
          <a:ln/>
        </p:spPr>
        <p:txBody>
          <a:bodyPr wrap="square" rtlCol="0" anchor="ctr"/>
          <a:lstStyle/>
          <a:p>
            <a:pPr marL="0" indent="0">
              <a:buNone/>
            </a:pPr>
            <a:r>
              <a:rPr lang="en-US" sz="1100" b="1" dirty="0">
                <a:solidFill>
                  <a:srgbClr val="F5A623"/>
                </a:solidFill>
              </a:rPr>
              <a:t>Start Resized Instance &amp; Explore EC2 Limits / Stop Protection</a:t>
            </a:r>
            <a:endParaRPr lang="en-US" sz="1100" dirty="0"/>
          </a:p>
        </p:txBody>
      </p:sp>
      <p:pic>
        <p:nvPicPr>
          <p:cNvPr id="16" name="Image 4" descr="preencoded.png"/>
          <p:cNvPicPr>
            <a:picLocks noChangeAspect="1"/>
          </p:cNvPicPr>
          <p:nvPr/>
        </p:nvPicPr>
        <p:blipFill>
          <a:blip r:embed="rId7"/>
          <a:stretch>
            <a:fillRect/>
          </a:stretch>
        </p:blipFill>
        <p:spPr>
          <a:xfrm>
            <a:off x="182880" y="3419856"/>
            <a:ext cx="2743200" cy="658368"/>
          </a:xfrm>
          <a:prstGeom prst="rect">
            <a:avLst/>
          </a:prstGeom>
        </p:spPr>
      </p:pic>
      <p:pic>
        <p:nvPicPr>
          <p:cNvPr id="17" name="Image 5" descr="preencoded.png"/>
          <p:cNvPicPr>
            <a:picLocks noChangeAspect="1"/>
          </p:cNvPicPr>
          <p:nvPr/>
        </p:nvPicPr>
        <p:blipFill>
          <a:blip r:embed="rId8"/>
          <a:stretch>
            <a:fillRect/>
          </a:stretch>
        </p:blipFill>
        <p:spPr>
          <a:xfrm>
            <a:off x="3108960" y="3419856"/>
            <a:ext cx="2560320" cy="658368"/>
          </a:xfrm>
          <a:prstGeom prst="rect">
            <a:avLst/>
          </a:prstGeom>
        </p:spPr>
      </p:pic>
      <p:pic>
        <p:nvPicPr>
          <p:cNvPr id="18" name="Image 6" descr="preencoded.png"/>
          <p:cNvPicPr>
            <a:picLocks noChangeAspect="1"/>
          </p:cNvPicPr>
          <p:nvPr/>
        </p:nvPicPr>
        <p:blipFill>
          <a:blip r:embed="rId9"/>
          <a:stretch>
            <a:fillRect/>
          </a:stretch>
        </p:blipFill>
        <p:spPr>
          <a:xfrm>
            <a:off x="5852160" y="3419856"/>
            <a:ext cx="3108960" cy="658368"/>
          </a:xfrm>
          <a:prstGeom prst="rect">
            <a:avLst/>
          </a:prstGeom>
        </p:spPr>
      </p:pic>
      <p:sp>
        <p:nvSpPr>
          <p:cNvPr id="19" name="Shape 10"/>
          <p:cNvSpPr/>
          <p:nvPr/>
        </p:nvSpPr>
        <p:spPr>
          <a:xfrm>
            <a:off x="0" y="4800600"/>
            <a:ext cx="9144000" cy="342900"/>
          </a:xfrm>
          <a:prstGeom prst="rect">
            <a:avLst/>
          </a:prstGeom>
          <a:solidFill>
            <a:srgbClr val="12203A"/>
          </a:solidFill>
          <a:ln w="12700">
            <a:solidFill>
              <a:srgbClr val="12203A"/>
            </a:solidFill>
            <a:prstDash val="solid"/>
          </a:ln>
        </p:spPr>
      </p:sp>
      <p:sp>
        <p:nvSpPr>
          <p:cNvPr id="20" name="Text 11"/>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3 – Load Balancer &amp; Auto Scaling Group</a:t>
            </a:r>
            <a:endParaRPr lang="en-US" sz="2200" dirty="0"/>
          </a:p>
        </p:txBody>
      </p:sp>
      <p:sp>
        <p:nvSpPr>
          <p:cNvPr id="5" name="Text 3"/>
          <p:cNvSpPr/>
          <p:nvPr/>
        </p:nvSpPr>
        <p:spPr>
          <a:xfrm>
            <a:off x="64008" y="599528"/>
            <a:ext cx="8686800" cy="365760"/>
          </a:xfrm>
          <a:prstGeom prst="rect">
            <a:avLst/>
          </a:prstGeom>
          <a:noFill/>
          <a:ln/>
        </p:spPr>
        <p:txBody>
          <a:bodyPr wrap="square" rtlCol="0" anchor="ctr"/>
          <a:lstStyle/>
          <a:p>
            <a:pPr marL="0" indent="0">
              <a:buNone/>
            </a:pPr>
            <a:r>
              <a:rPr lang="en-US" sz="1200" i="1" dirty="0">
                <a:solidFill>
                  <a:srgbClr val="F5A623"/>
                </a:solidFill>
              </a:rPr>
              <a:t>Module 10 Lab-6 · AWS Academy</a:t>
            </a:r>
            <a:endParaRPr lang="en-US" sz="1200" dirty="0"/>
          </a:p>
        </p:txBody>
      </p:sp>
      <p:sp>
        <p:nvSpPr>
          <p:cNvPr id="6" name="Shape 4"/>
          <p:cNvSpPr/>
          <p:nvPr/>
        </p:nvSpPr>
        <p:spPr>
          <a:xfrm>
            <a:off x="0" y="4800600"/>
            <a:ext cx="9144000" cy="342900"/>
          </a:xfrm>
          <a:prstGeom prst="rect">
            <a:avLst/>
          </a:prstGeom>
          <a:solidFill>
            <a:srgbClr val="12203A"/>
          </a:solidFill>
          <a:ln w="12700">
            <a:solidFill>
              <a:srgbClr val="12203A"/>
            </a:solidFill>
            <a:prstDash val="solid"/>
          </a:ln>
        </p:spPr>
      </p:sp>
      <p:sp>
        <p:nvSpPr>
          <p:cNvPr id="7" name="Text 5"/>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8" name="Shape 6"/>
          <p:cNvSpPr/>
          <p:nvPr/>
        </p:nvSpPr>
        <p:spPr>
          <a:xfrm>
            <a:off x="164592" y="91440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9" name="Shape 7"/>
          <p:cNvSpPr/>
          <p:nvPr/>
        </p:nvSpPr>
        <p:spPr>
          <a:xfrm>
            <a:off x="256032" y="1078992"/>
            <a:ext cx="384048" cy="384048"/>
          </a:xfrm>
          <a:prstGeom prst="ellipse">
            <a:avLst/>
          </a:prstGeom>
          <a:solidFill>
            <a:srgbClr val="F5A623"/>
          </a:solidFill>
          <a:ln w="12700">
            <a:solidFill>
              <a:srgbClr val="F5A623"/>
            </a:solidFill>
            <a:prstDash val="solid"/>
          </a:ln>
        </p:spPr>
      </p:sp>
      <p:sp>
        <p:nvSpPr>
          <p:cNvPr id="10" name="Text 8"/>
          <p:cNvSpPr/>
          <p:nvPr/>
        </p:nvSpPr>
        <p:spPr>
          <a:xfrm>
            <a:off x="256032" y="1078992"/>
            <a:ext cx="384048" cy="384048"/>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11" name="Text 9"/>
          <p:cNvSpPr/>
          <p:nvPr/>
        </p:nvSpPr>
        <p:spPr>
          <a:xfrm>
            <a:off x="731520" y="969264"/>
            <a:ext cx="3566160" cy="292608"/>
          </a:xfrm>
          <a:prstGeom prst="rect">
            <a:avLst/>
          </a:prstGeom>
          <a:noFill/>
          <a:ln/>
        </p:spPr>
        <p:txBody>
          <a:bodyPr wrap="square" rtlCol="0" anchor="ctr"/>
          <a:lstStyle/>
          <a:p>
            <a:pPr marL="0" indent="0">
              <a:buNone/>
            </a:pPr>
            <a:r>
              <a:rPr lang="en-US" sz="1100" b="1" dirty="0">
                <a:solidFill>
                  <a:srgbClr val="1C2B4A"/>
                </a:solidFill>
              </a:rPr>
              <a:t>Create AMI</a:t>
            </a:r>
            <a:endParaRPr lang="en-US" sz="1100" dirty="0"/>
          </a:p>
        </p:txBody>
      </p:sp>
      <p:sp>
        <p:nvSpPr>
          <p:cNvPr id="12" name="Text 10"/>
          <p:cNvSpPr/>
          <p:nvPr/>
        </p:nvSpPr>
        <p:spPr>
          <a:xfrm>
            <a:off x="731520" y="1261872"/>
            <a:ext cx="3566160" cy="438912"/>
          </a:xfrm>
          <a:prstGeom prst="rect">
            <a:avLst/>
          </a:prstGeom>
          <a:noFill/>
          <a:ln/>
        </p:spPr>
        <p:txBody>
          <a:bodyPr wrap="square" rtlCol="0" anchor="ctr"/>
          <a:lstStyle/>
          <a:p>
            <a:pPr marL="0" indent="0">
              <a:buNone/>
            </a:pPr>
            <a:r>
              <a:rPr lang="en-US" sz="1000" dirty="0">
                <a:solidFill>
                  <a:srgbClr val="5A6A7A"/>
                </a:solidFill>
              </a:rPr>
              <a:t>Snapshot of Web Server 1 as blueprint for new instances</a:t>
            </a:r>
            <a:endParaRPr lang="en-US" sz="1000" dirty="0"/>
          </a:p>
        </p:txBody>
      </p:sp>
      <p:sp>
        <p:nvSpPr>
          <p:cNvPr id="13" name="Shape 11"/>
          <p:cNvSpPr/>
          <p:nvPr/>
        </p:nvSpPr>
        <p:spPr>
          <a:xfrm>
            <a:off x="4663440" y="91440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14" name="Shape 12"/>
          <p:cNvSpPr/>
          <p:nvPr/>
        </p:nvSpPr>
        <p:spPr>
          <a:xfrm>
            <a:off x="4754880" y="1078992"/>
            <a:ext cx="384048" cy="384048"/>
          </a:xfrm>
          <a:prstGeom prst="ellipse">
            <a:avLst/>
          </a:prstGeom>
          <a:solidFill>
            <a:srgbClr val="F5A623"/>
          </a:solidFill>
          <a:ln w="12700">
            <a:solidFill>
              <a:srgbClr val="F5A623"/>
            </a:solidFill>
            <a:prstDash val="solid"/>
          </a:ln>
        </p:spPr>
      </p:sp>
      <p:sp>
        <p:nvSpPr>
          <p:cNvPr id="15" name="Text 13"/>
          <p:cNvSpPr/>
          <p:nvPr/>
        </p:nvSpPr>
        <p:spPr>
          <a:xfrm>
            <a:off x="4754880" y="1078992"/>
            <a:ext cx="384048" cy="384048"/>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6" name="Text 14"/>
          <p:cNvSpPr/>
          <p:nvPr/>
        </p:nvSpPr>
        <p:spPr>
          <a:xfrm>
            <a:off x="5230368" y="969264"/>
            <a:ext cx="3566160" cy="292608"/>
          </a:xfrm>
          <a:prstGeom prst="rect">
            <a:avLst/>
          </a:prstGeom>
          <a:noFill/>
          <a:ln/>
        </p:spPr>
        <p:txBody>
          <a:bodyPr wrap="square" rtlCol="0" anchor="ctr"/>
          <a:lstStyle/>
          <a:p>
            <a:pPr marL="0" indent="0">
              <a:buNone/>
            </a:pPr>
            <a:r>
              <a:rPr lang="en-US" sz="1100" b="1" dirty="0">
                <a:solidFill>
                  <a:srgbClr val="1C2B4A"/>
                </a:solidFill>
              </a:rPr>
              <a:t>Target Group</a:t>
            </a:r>
            <a:endParaRPr lang="en-US" sz="1100" dirty="0"/>
          </a:p>
        </p:txBody>
      </p:sp>
      <p:sp>
        <p:nvSpPr>
          <p:cNvPr id="17" name="Text 15"/>
          <p:cNvSpPr/>
          <p:nvPr/>
        </p:nvSpPr>
        <p:spPr>
          <a:xfrm>
            <a:off x="5230368" y="1261872"/>
            <a:ext cx="3566160" cy="438912"/>
          </a:xfrm>
          <a:prstGeom prst="rect">
            <a:avLst/>
          </a:prstGeom>
          <a:noFill/>
          <a:ln/>
        </p:spPr>
        <p:txBody>
          <a:bodyPr wrap="square" rtlCol="0" anchor="ctr"/>
          <a:lstStyle/>
          <a:p>
            <a:pPr marL="0" indent="0">
              <a:buNone/>
            </a:pPr>
            <a:r>
              <a:rPr lang="en-US" sz="1000" dirty="0">
                <a:solidFill>
                  <a:srgbClr val="5A6A7A"/>
                </a:solidFill>
              </a:rPr>
              <a:t>LabGroup – registers EC2 instances for health-checked routing</a:t>
            </a:r>
            <a:endParaRPr lang="en-US" sz="1000" dirty="0"/>
          </a:p>
        </p:txBody>
      </p:sp>
      <p:sp>
        <p:nvSpPr>
          <p:cNvPr id="18" name="Shape 16"/>
          <p:cNvSpPr/>
          <p:nvPr/>
        </p:nvSpPr>
        <p:spPr>
          <a:xfrm>
            <a:off x="164592" y="187452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19" name="Shape 17"/>
          <p:cNvSpPr/>
          <p:nvPr/>
        </p:nvSpPr>
        <p:spPr>
          <a:xfrm>
            <a:off x="256032" y="2039112"/>
            <a:ext cx="384048" cy="384048"/>
          </a:xfrm>
          <a:prstGeom prst="ellipse">
            <a:avLst/>
          </a:prstGeom>
          <a:solidFill>
            <a:srgbClr val="F5A623"/>
          </a:solidFill>
          <a:ln w="12700">
            <a:solidFill>
              <a:srgbClr val="F5A623"/>
            </a:solidFill>
            <a:prstDash val="solid"/>
          </a:ln>
        </p:spPr>
      </p:sp>
      <p:sp>
        <p:nvSpPr>
          <p:cNvPr id="20" name="Text 18"/>
          <p:cNvSpPr/>
          <p:nvPr/>
        </p:nvSpPr>
        <p:spPr>
          <a:xfrm>
            <a:off x="256032" y="2039112"/>
            <a:ext cx="384048" cy="384048"/>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21" name="Text 19"/>
          <p:cNvSpPr/>
          <p:nvPr/>
        </p:nvSpPr>
        <p:spPr>
          <a:xfrm>
            <a:off x="731520" y="1929384"/>
            <a:ext cx="3566160" cy="292608"/>
          </a:xfrm>
          <a:prstGeom prst="rect">
            <a:avLst/>
          </a:prstGeom>
          <a:noFill/>
          <a:ln/>
        </p:spPr>
        <p:txBody>
          <a:bodyPr wrap="square" rtlCol="0" anchor="ctr"/>
          <a:lstStyle/>
          <a:p>
            <a:pPr marL="0" indent="0">
              <a:buNone/>
            </a:pPr>
            <a:r>
              <a:rPr lang="en-US" sz="1100" b="1" dirty="0">
                <a:solidFill>
                  <a:srgbClr val="1C2B4A"/>
                </a:solidFill>
              </a:rPr>
              <a:t>App Load Balancer</a:t>
            </a:r>
            <a:endParaRPr lang="en-US" sz="1100" dirty="0"/>
          </a:p>
        </p:txBody>
      </p:sp>
      <p:sp>
        <p:nvSpPr>
          <p:cNvPr id="22" name="Text 20"/>
          <p:cNvSpPr/>
          <p:nvPr/>
        </p:nvSpPr>
        <p:spPr>
          <a:xfrm>
            <a:off x="731520" y="2221992"/>
            <a:ext cx="3566160" cy="438912"/>
          </a:xfrm>
          <a:prstGeom prst="rect">
            <a:avLst/>
          </a:prstGeom>
          <a:noFill/>
          <a:ln/>
        </p:spPr>
        <p:txBody>
          <a:bodyPr wrap="square" rtlCol="0" anchor="ctr"/>
          <a:lstStyle/>
          <a:p>
            <a:pPr marL="0" indent="0">
              <a:buNone/>
            </a:pPr>
            <a:r>
              <a:rPr lang="en-US" sz="1000" dirty="0">
                <a:solidFill>
                  <a:srgbClr val="5A6A7A"/>
                </a:solidFill>
              </a:rPr>
              <a:t>ALB distributes HTTP traffic across healthy instances</a:t>
            </a:r>
            <a:endParaRPr lang="en-US" sz="1000" dirty="0"/>
          </a:p>
        </p:txBody>
      </p:sp>
      <p:sp>
        <p:nvSpPr>
          <p:cNvPr id="23" name="Shape 21"/>
          <p:cNvSpPr/>
          <p:nvPr/>
        </p:nvSpPr>
        <p:spPr>
          <a:xfrm>
            <a:off x="4663440" y="187452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24" name="Shape 22"/>
          <p:cNvSpPr/>
          <p:nvPr/>
        </p:nvSpPr>
        <p:spPr>
          <a:xfrm>
            <a:off x="4754880" y="2039112"/>
            <a:ext cx="384048" cy="384048"/>
          </a:xfrm>
          <a:prstGeom prst="ellipse">
            <a:avLst/>
          </a:prstGeom>
          <a:solidFill>
            <a:srgbClr val="F5A623"/>
          </a:solidFill>
          <a:ln w="12700">
            <a:solidFill>
              <a:srgbClr val="F5A623"/>
            </a:solidFill>
            <a:prstDash val="solid"/>
          </a:ln>
        </p:spPr>
      </p:sp>
      <p:sp>
        <p:nvSpPr>
          <p:cNvPr id="25" name="Text 23"/>
          <p:cNvSpPr/>
          <p:nvPr/>
        </p:nvSpPr>
        <p:spPr>
          <a:xfrm>
            <a:off x="4754880" y="2039112"/>
            <a:ext cx="384048" cy="384048"/>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6" name="Text 24"/>
          <p:cNvSpPr/>
          <p:nvPr/>
        </p:nvSpPr>
        <p:spPr>
          <a:xfrm>
            <a:off x="5230368" y="1929384"/>
            <a:ext cx="3566160" cy="292608"/>
          </a:xfrm>
          <a:prstGeom prst="rect">
            <a:avLst/>
          </a:prstGeom>
          <a:noFill/>
          <a:ln/>
        </p:spPr>
        <p:txBody>
          <a:bodyPr wrap="square" rtlCol="0" anchor="ctr"/>
          <a:lstStyle/>
          <a:p>
            <a:pPr marL="0" indent="0">
              <a:buNone/>
            </a:pPr>
            <a:r>
              <a:rPr lang="en-US" sz="1100" b="1" dirty="0">
                <a:solidFill>
                  <a:srgbClr val="1C2B4A"/>
                </a:solidFill>
              </a:rPr>
              <a:t>Launch Template</a:t>
            </a:r>
            <a:endParaRPr lang="en-US" sz="1100" dirty="0"/>
          </a:p>
        </p:txBody>
      </p:sp>
      <p:sp>
        <p:nvSpPr>
          <p:cNvPr id="27" name="Text 25"/>
          <p:cNvSpPr/>
          <p:nvPr/>
        </p:nvSpPr>
        <p:spPr>
          <a:xfrm>
            <a:off x="5230368" y="2221992"/>
            <a:ext cx="3566160" cy="438912"/>
          </a:xfrm>
          <a:prstGeom prst="rect">
            <a:avLst/>
          </a:prstGeom>
          <a:noFill/>
          <a:ln/>
        </p:spPr>
        <p:txBody>
          <a:bodyPr wrap="square" rtlCol="0" anchor="ctr"/>
          <a:lstStyle/>
          <a:p>
            <a:pPr marL="0" indent="0">
              <a:buNone/>
            </a:pPr>
            <a:r>
              <a:rPr lang="en-US" sz="1000" dirty="0">
                <a:solidFill>
                  <a:srgbClr val="5A6A7A"/>
                </a:solidFill>
              </a:rPr>
              <a:t>LabConfig – defines AMI, instance type, key pair, SG for ASG</a:t>
            </a:r>
            <a:endParaRPr lang="en-US" sz="1000" dirty="0"/>
          </a:p>
        </p:txBody>
      </p:sp>
      <p:sp>
        <p:nvSpPr>
          <p:cNvPr id="28" name="Shape 26"/>
          <p:cNvSpPr/>
          <p:nvPr/>
        </p:nvSpPr>
        <p:spPr>
          <a:xfrm>
            <a:off x="164592" y="283464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29" name="Shape 27"/>
          <p:cNvSpPr/>
          <p:nvPr/>
        </p:nvSpPr>
        <p:spPr>
          <a:xfrm>
            <a:off x="256032" y="2999232"/>
            <a:ext cx="384048" cy="384048"/>
          </a:xfrm>
          <a:prstGeom prst="ellipse">
            <a:avLst/>
          </a:prstGeom>
          <a:solidFill>
            <a:srgbClr val="F5A623"/>
          </a:solidFill>
          <a:ln w="12700">
            <a:solidFill>
              <a:srgbClr val="F5A623"/>
            </a:solidFill>
            <a:prstDash val="solid"/>
          </a:ln>
        </p:spPr>
      </p:sp>
      <p:sp>
        <p:nvSpPr>
          <p:cNvPr id="30" name="Text 28"/>
          <p:cNvSpPr/>
          <p:nvPr/>
        </p:nvSpPr>
        <p:spPr>
          <a:xfrm>
            <a:off x="256032" y="2999232"/>
            <a:ext cx="384048" cy="384048"/>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731520" y="2889504"/>
            <a:ext cx="3566160" cy="292608"/>
          </a:xfrm>
          <a:prstGeom prst="rect">
            <a:avLst/>
          </a:prstGeom>
          <a:noFill/>
          <a:ln/>
        </p:spPr>
        <p:txBody>
          <a:bodyPr wrap="square" rtlCol="0" anchor="ctr"/>
          <a:lstStyle/>
          <a:p>
            <a:pPr marL="0" indent="0">
              <a:buNone/>
            </a:pPr>
            <a:r>
              <a:rPr lang="en-US" sz="1100" b="1" dirty="0">
                <a:solidFill>
                  <a:srgbClr val="1C2B4A"/>
                </a:solidFill>
              </a:rPr>
              <a:t>Auto Scaling Group</a:t>
            </a:r>
            <a:endParaRPr lang="en-US" sz="1100" dirty="0"/>
          </a:p>
        </p:txBody>
      </p:sp>
      <p:sp>
        <p:nvSpPr>
          <p:cNvPr id="32" name="Text 30"/>
          <p:cNvSpPr/>
          <p:nvPr/>
        </p:nvSpPr>
        <p:spPr>
          <a:xfrm>
            <a:off x="731520" y="3182112"/>
            <a:ext cx="3566160" cy="438912"/>
          </a:xfrm>
          <a:prstGeom prst="rect">
            <a:avLst/>
          </a:prstGeom>
          <a:noFill/>
          <a:ln/>
        </p:spPr>
        <p:txBody>
          <a:bodyPr wrap="square" rtlCol="0" anchor="ctr"/>
          <a:lstStyle/>
          <a:p>
            <a:pPr marL="0" indent="0">
              <a:buNone/>
            </a:pPr>
            <a:r>
              <a:rPr lang="en-US" sz="1000" dirty="0">
                <a:solidFill>
                  <a:srgbClr val="5A6A7A"/>
                </a:solidFill>
              </a:rPr>
              <a:t>Min: 2 / Desired: 2 / Max: 6 — Target CPU: 60%</a:t>
            </a:r>
            <a:endParaRPr lang="en-US" sz="1000" dirty="0"/>
          </a:p>
        </p:txBody>
      </p:sp>
      <p:sp>
        <p:nvSpPr>
          <p:cNvPr id="33" name="Shape 31"/>
          <p:cNvSpPr/>
          <p:nvPr/>
        </p:nvSpPr>
        <p:spPr>
          <a:xfrm>
            <a:off x="4663440" y="2834640"/>
            <a:ext cx="4297680" cy="822960"/>
          </a:xfrm>
          <a:prstGeom prst="rect">
            <a:avLst/>
          </a:prstGeom>
          <a:solidFill>
            <a:srgbClr val="FFFFFF"/>
          </a:solidFill>
          <a:ln/>
          <a:effectLst>
            <a:outerShdw blurRad="63500" dist="12700" dir="8100000" algn="bl" rotWithShape="0">
              <a:srgbClr val="000000">
                <a:alpha val="8000"/>
              </a:srgbClr>
            </a:outerShdw>
          </a:effectLst>
        </p:spPr>
      </p:sp>
      <p:sp>
        <p:nvSpPr>
          <p:cNvPr id="34" name="Shape 32"/>
          <p:cNvSpPr/>
          <p:nvPr/>
        </p:nvSpPr>
        <p:spPr>
          <a:xfrm>
            <a:off x="4754880" y="2999232"/>
            <a:ext cx="384048" cy="384048"/>
          </a:xfrm>
          <a:prstGeom prst="ellipse">
            <a:avLst/>
          </a:prstGeom>
          <a:solidFill>
            <a:srgbClr val="F5A623"/>
          </a:solidFill>
          <a:ln w="12700">
            <a:solidFill>
              <a:srgbClr val="F5A623"/>
            </a:solidFill>
            <a:prstDash val="solid"/>
          </a:ln>
        </p:spPr>
      </p:sp>
      <p:sp>
        <p:nvSpPr>
          <p:cNvPr id="35" name="Text 33"/>
          <p:cNvSpPr/>
          <p:nvPr/>
        </p:nvSpPr>
        <p:spPr>
          <a:xfrm>
            <a:off x="4754880" y="2999232"/>
            <a:ext cx="384048" cy="384048"/>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6" name="Text 34"/>
          <p:cNvSpPr/>
          <p:nvPr/>
        </p:nvSpPr>
        <p:spPr>
          <a:xfrm>
            <a:off x="5230368" y="2889504"/>
            <a:ext cx="3566160" cy="292608"/>
          </a:xfrm>
          <a:prstGeom prst="rect">
            <a:avLst/>
          </a:prstGeom>
          <a:noFill/>
          <a:ln/>
        </p:spPr>
        <p:txBody>
          <a:bodyPr wrap="square" rtlCol="0" anchor="ctr"/>
          <a:lstStyle/>
          <a:p>
            <a:pPr marL="0" indent="0">
              <a:buNone/>
            </a:pPr>
            <a:r>
              <a:rPr lang="en-US" sz="1100" b="1" dirty="0">
                <a:solidFill>
                  <a:srgbClr val="1C2B4A"/>
                </a:solidFill>
              </a:rPr>
              <a:t>Verify &amp; Test</a:t>
            </a:r>
            <a:endParaRPr lang="en-US" sz="1100" dirty="0"/>
          </a:p>
        </p:txBody>
      </p:sp>
      <p:sp>
        <p:nvSpPr>
          <p:cNvPr id="37" name="Text 35"/>
          <p:cNvSpPr/>
          <p:nvPr/>
        </p:nvSpPr>
        <p:spPr>
          <a:xfrm>
            <a:off x="5230368" y="3182112"/>
            <a:ext cx="3566160" cy="438912"/>
          </a:xfrm>
          <a:prstGeom prst="rect">
            <a:avLst/>
          </a:prstGeom>
          <a:noFill/>
          <a:ln/>
        </p:spPr>
        <p:txBody>
          <a:bodyPr wrap="square" rtlCol="0" anchor="ctr"/>
          <a:lstStyle/>
          <a:p>
            <a:pPr marL="0" indent="0">
              <a:buNone/>
            </a:pPr>
            <a:r>
              <a:rPr lang="en-US" sz="1000" dirty="0">
                <a:solidFill>
                  <a:srgbClr val="5A6A7A"/>
                </a:solidFill>
              </a:rPr>
              <a:t>Confirmed LB DNS works; stress-tested to trigger scale-out</a:t>
            </a:r>
            <a:endParaRPr lang="en-US" sz="1000" dirty="0"/>
          </a:p>
        </p:txBody>
      </p:sp>
      <p:sp>
        <p:nvSpPr>
          <p:cNvPr id="38" name="Shape 36"/>
          <p:cNvSpPr/>
          <p:nvPr/>
        </p:nvSpPr>
        <p:spPr>
          <a:xfrm>
            <a:off x="0" y="4800600"/>
            <a:ext cx="9144000" cy="342900"/>
          </a:xfrm>
          <a:prstGeom prst="rect">
            <a:avLst/>
          </a:prstGeom>
          <a:solidFill>
            <a:srgbClr val="12203A"/>
          </a:solidFill>
          <a:ln w="12700">
            <a:solidFill>
              <a:srgbClr val="12203A"/>
            </a:solidFill>
            <a:prstDash val="solid"/>
          </a:ln>
        </p:spPr>
      </p:sp>
      <p:sp>
        <p:nvSpPr>
          <p:cNvPr id="39" name="Text 37"/>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3 – Creating AMI &amp; Load Balancer</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4572000" cy="256032"/>
          </a:xfrm>
          <a:prstGeom prst="rect">
            <a:avLst/>
          </a:prstGeom>
          <a:noFill/>
          <a:ln/>
        </p:spPr>
        <p:txBody>
          <a:bodyPr wrap="square" rtlCol="0" anchor="ctr"/>
          <a:lstStyle/>
          <a:p>
            <a:pPr marL="0" indent="0">
              <a:buNone/>
            </a:pPr>
            <a:r>
              <a:rPr lang="en-US" sz="1100" b="1" dirty="0">
                <a:solidFill>
                  <a:srgbClr val="F5A623"/>
                </a:solidFill>
              </a:rPr>
              <a:t>Select Web Server 1 → Create Image</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914400"/>
          </a:xfrm>
          <a:prstGeom prst="rect">
            <a:avLst/>
          </a:prstGeom>
        </p:spPr>
      </p:pic>
      <p:sp>
        <p:nvSpPr>
          <p:cNvPr id="9" name="Text 6"/>
          <p:cNvSpPr/>
          <p:nvPr/>
        </p:nvSpPr>
        <p:spPr>
          <a:xfrm>
            <a:off x="4572000" y="749808"/>
            <a:ext cx="4572000" cy="256032"/>
          </a:xfrm>
          <a:prstGeom prst="rect">
            <a:avLst/>
          </a:prstGeom>
          <a:noFill/>
          <a:ln/>
        </p:spPr>
        <p:txBody>
          <a:bodyPr wrap="square" rtlCol="0" anchor="ctr"/>
          <a:lstStyle/>
          <a:p>
            <a:pPr marL="0" indent="0">
              <a:buNone/>
            </a:pPr>
            <a:r>
              <a:rPr lang="en-US" sz="1100" b="1" dirty="0">
                <a:solidFill>
                  <a:srgbClr val="F5A623"/>
                </a:solidFill>
              </a:rPr>
              <a:t>AMI Created Successfully</a:t>
            </a:r>
            <a:endParaRPr lang="en-US" sz="1100" dirty="0"/>
          </a:p>
        </p:txBody>
      </p:sp>
      <p:pic>
        <p:nvPicPr>
          <p:cNvPr id="10" name="Image 1" descr="preencoded.png"/>
          <p:cNvPicPr>
            <a:picLocks noChangeAspect="1"/>
          </p:cNvPicPr>
          <p:nvPr/>
        </p:nvPicPr>
        <p:blipFill>
          <a:blip r:embed="rId4"/>
          <a:stretch>
            <a:fillRect/>
          </a:stretch>
        </p:blipFill>
        <p:spPr>
          <a:xfrm>
            <a:off x="4572000" y="1005840"/>
            <a:ext cx="4343400" cy="914400"/>
          </a:xfrm>
          <a:prstGeom prst="rect">
            <a:avLst/>
          </a:prstGeom>
        </p:spPr>
      </p:pic>
      <p:sp>
        <p:nvSpPr>
          <p:cNvPr id="11" name="Text 7"/>
          <p:cNvSpPr/>
          <p:nvPr/>
        </p:nvSpPr>
        <p:spPr>
          <a:xfrm>
            <a:off x="182880" y="2057400"/>
            <a:ext cx="4572000" cy="256032"/>
          </a:xfrm>
          <a:prstGeom prst="rect">
            <a:avLst/>
          </a:prstGeom>
          <a:noFill/>
          <a:ln/>
        </p:spPr>
        <p:txBody>
          <a:bodyPr wrap="square" rtlCol="0" anchor="ctr"/>
          <a:lstStyle/>
          <a:p>
            <a:pPr marL="0" indent="0">
              <a:buNone/>
            </a:pPr>
            <a:r>
              <a:rPr lang="en-US" sz="1100" b="1" dirty="0">
                <a:solidFill>
                  <a:srgbClr val="F5A623"/>
                </a:solidFill>
              </a:rPr>
              <a:t>Create Target Group (LabGroup)</a:t>
            </a:r>
            <a:endParaRPr lang="en-US" sz="1100" dirty="0"/>
          </a:p>
        </p:txBody>
      </p:sp>
      <p:pic>
        <p:nvPicPr>
          <p:cNvPr id="12" name="Image 2" descr="preencoded.png"/>
          <p:cNvPicPr>
            <a:picLocks noChangeAspect="1"/>
          </p:cNvPicPr>
          <p:nvPr/>
        </p:nvPicPr>
        <p:blipFill>
          <a:blip r:embed="rId5"/>
          <a:stretch>
            <a:fillRect/>
          </a:stretch>
        </p:blipFill>
        <p:spPr>
          <a:xfrm>
            <a:off x="182880" y="2331720"/>
            <a:ext cx="4206240" cy="868680"/>
          </a:xfrm>
          <a:prstGeom prst="rect">
            <a:avLst/>
          </a:prstGeom>
        </p:spPr>
      </p:pic>
      <p:sp>
        <p:nvSpPr>
          <p:cNvPr id="13" name="Text 8"/>
          <p:cNvSpPr/>
          <p:nvPr/>
        </p:nvSpPr>
        <p:spPr>
          <a:xfrm>
            <a:off x="4572000" y="2057400"/>
            <a:ext cx="4572000" cy="256032"/>
          </a:xfrm>
          <a:prstGeom prst="rect">
            <a:avLst/>
          </a:prstGeom>
          <a:noFill/>
          <a:ln/>
        </p:spPr>
        <p:txBody>
          <a:bodyPr wrap="square" rtlCol="0" anchor="ctr"/>
          <a:lstStyle/>
          <a:p>
            <a:pPr marL="0" indent="0">
              <a:buNone/>
            </a:pPr>
            <a:r>
              <a:rPr lang="en-US" sz="1100" b="1" dirty="0">
                <a:solidFill>
                  <a:srgbClr val="F5A623"/>
                </a:solidFill>
              </a:rPr>
              <a:t>Application Load Balancer Created</a:t>
            </a:r>
            <a:endParaRPr lang="en-US" sz="1100" dirty="0"/>
          </a:p>
        </p:txBody>
      </p:sp>
      <p:pic>
        <p:nvPicPr>
          <p:cNvPr id="14" name="Image 3" descr="preencoded.png"/>
          <p:cNvPicPr>
            <a:picLocks noChangeAspect="1"/>
          </p:cNvPicPr>
          <p:nvPr/>
        </p:nvPicPr>
        <p:blipFill>
          <a:blip r:embed="rId6"/>
          <a:stretch>
            <a:fillRect/>
          </a:stretch>
        </p:blipFill>
        <p:spPr>
          <a:xfrm>
            <a:off x="4572000" y="2331720"/>
            <a:ext cx="4343400" cy="868680"/>
          </a:xfrm>
          <a:prstGeom prst="rect">
            <a:avLst/>
          </a:prstGeom>
        </p:spPr>
      </p:pic>
      <p:sp>
        <p:nvSpPr>
          <p:cNvPr id="15" name="Text 9"/>
          <p:cNvSpPr/>
          <p:nvPr/>
        </p:nvSpPr>
        <p:spPr>
          <a:xfrm>
            <a:off x="182880" y="3328416"/>
            <a:ext cx="8686800" cy="256032"/>
          </a:xfrm>
          <a:prstGeom prst="rect">
            <a:avLst/>
          </a:prstGeom>
          <a:noFill/>
          <a:ln/>
        </p:spPr>
        <p:txBody>
          <a:bodyPr wrap="square" rtlCol="0" anchor="ctr"/>
          <a:lstStyle/>
          <a:p>
            <a:pPr marL="0" indent="0">
              <a:buNone/>
            </a:pPr>
            <a:r>
              <a:rPr lang="en-US" sz="1100" b="1" dirty="0">
                <a:solidFill>
                  <a:srgbClr val="F5A623"/>
                </a:solidFill>
              </a:rPr>
              <a:t>ALB Configuration – Listener HTTP:80 → forward to LabGroup</a:t>
            </a:r>
            <a:endParaRPr lang="en-US" sz="1100" dirty="0"/>
          </a:p>
        </p:txBody>
      </p:sp>
      <p:pic>
        <p:nvPicPr>
          <p:cNvPr id="16" name="Image 4" descr="preencoded.png"/>
          <p:cNvPicPr>
            <a:picLocks noChangeAspect="1"/>
          </p:cNvPicPr>
          <p:nvPr/>
        </p:nvPicPr>
        <p:blipFill>
          <a:blip r:embed="rId7"/>
          <a:stretch>
            <a:fillRect/>
          </a:stretch>
        </p:blipFill>
        <p:spPr>
          <a:xfrm>
            <a:off x="182880" y="3602736"/>
            <a:ext cx="4206240" cy="731520"/>
          </a:xfrm>
          <a:prstGeom prst="rect">
            <a:avLst/>
          </a:prstGeom>
        </p:spPr>
      </p:pic>
      <p:pic>
        <p:nvPicPr>
          <p:cNvPr id="17" name="Image 5" descr="preencoded.png"/>
          <p:cNvPicPr>
            <a:picLocks noChangeAspect="1"/>
          </p:cNvPicPr>
          <p:nvPr/>
        </p:nvPicPr>
        <p:blipFill>
          <a:blip r:embed="rId8"/>
          <a:stretch>
            <a:fillRect/>
          </a:stretch>
        </p:blipFill>
        <p:spPr>
          <a:xfrm>
            <a:off x="4572000" y="3602736"/>
            <a:ext cx="4343400" cy="731520"/>
          </a:xfrm>
          <a:prstGeom prst="rect">
            <a:avLst/>
          </a:prstGeom>
        </p:spPr>
      </p:pic>
      <p:sp>
        <p:nvSpPr>
          <p:cNvPr id="18" name="Shape 10"/>
          <p:cNvSpPr/>
          <p:nvPr/>
        </p:nvSpPr>
        <p:spPr>
          <a:xfrm>
            <a:off x="0" y="4800600"/>
            <a:ext cx="9144000" cy="342900"/>
          </a:xfrm>
          <a:prstGeom prst="rect">
            <a:avLst/>
          </a:prstGeom>
          <a:solidFill>
            <a:srgbClr val="12203A"/>
          </a:solidFill>
          <a:ln w="12700">
            <a:solidFill>
              <a:srgbClr val="12203A"/>
            </a:solidFill>
            <a:prstDash val="solid"/>
          </a:ln>
        </p:spPr>
      </p:sp>
      <p:sp>
        <p:nvSpPr>
          <p:cNvPr id="19" name="Text 11"/>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3 – Launch Template &amp; Auto Scaling Group</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8686800" cy="256032"/>
          </a:xfrm>
          <a:prstGeom prst="rect">
            <a:avLst/>
          </a:prstGeom>
          <a:noFill/>
          <a:ln/>
        </p:spPr>
        <p:txBody>
          <a:bodyPr wrap="square" rtlCol="0" anchor="ctr"/>
          <a:lstStyle/>
          <a:p>
            <a:pPr marL="0" indent="0">
              <a:buNone/>
            </a:pPr>
            <a:r>
              <a:rPr lang="en-US" sz="1100" b="1" dirty="0">
                <a:solidFill>
                  <a:srgbClr val="F5A623"/>
                </a:solidFill>
              </a:rPr>
              <a:t>Launch Template – LabConfig (AMI, Instance Type, Key Pair, SG)</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841248"/>
          </a:xfrm>
          <a:prstGeom prst="rect">
            <a:avLst/>
          </a:prstGeom>
        </p:spPr>
      </p:pic>
      <p:pic>
        <p:nvPicPr>
          <p:cNvPr id="9" name="Image 1" descr="preencoded.png"/>
          <p:cNvPicPr>
            <a:picLocks noChangeAspect="1"/>
          </p:cNvPicPr>
          <p:nvPr/>
        </p:nvPicPr>
        <p:blipFill>
          <a:blip r:embed="rId4"/>
          <a:stretch>
            <a:fillRect/>
          </a:stretch>
        </p:blipFill>
        <p:spPr>
          <a:xfrm>
            <a:off x="4572000" y="1005840"/>
            <a:ext cx="4343400" cy="841248"/>
          </a:xfrm>
          <a:prstGeom prst="rect">
            <a:avLst/>
          </a:prstGeom>
        </p:spPr>
      </p:pic>
      <p:sp>
        <p:nvSpPr>
          <p:cNvPr id="10" name="Text 6"/>
          <p:cNvSpPr/>
          <p:nvPr/>
        </p:nvSpPr>
        <p:spPr>
          <a:xfrm>
            <a:off x="182880" y="1984248"/>
            <a:ext cx="8686800" cy="256032"/>
          </a:xfrm>
          <a:prstGeom prst="rect">
            <a:avLst/>
          </a:prstGeom>
          <a:noFill/>
          <a:ln/>
        </p:spPr>
        <p:txBody>
          <a:bodyPr wrap="square" rtlCol="0" anchor="ctr"/>
          <a:lstStyle/>
          <a:p>
            <a:pPr marL="0" indent="0">
              <a:buNone/>
            </a:pPr>
            <a:r>
              <a:rPr lang="en-US" sz="1100" b="1" dirty="0">
                <a:solidFill>
                  <a:srgbClr val="F5A623"/>
                </a:solidFill>
              </a:rPr>
              <a:t>Auto Scaling Group – Step 1 &amp; Step 2 (VPC / Subnets)</a:t>
            </a:r>
            <a:endParaRPr lang="en-US" sz="1100" dirty="0"/>
          </a:p>
        </p:txBody>
      </p:sp>
      <p:pic>
        <p:nvPicPr>
          <p:cNvPr id="11" name="Image 2" descr="preencoded.png"/>
          <p:cNvPicPr>
            <a:picLocks noChangeAspect="1"/>
          </p:cNvPicPr>
          <p:nvPr/>
        </p:nvPicPr>
        <p:blipFill>
          <a:blip r:embed="rId5"/>
          <a:stretch>
            <a:fillRect/>
          </a:stretch>
        </p:blipFill>
        <p:spPr>
          <a:xfrm>
            <a:off x="182880" y="2258568"/>
            <a:ext cx="4206240" cy="804672"/>
          </a:xfrm>
          <a:prstGeom prst="rect">
            <a:avLst/>
          </a:prstGeom>
        </p:spPr>
      </p:pic>
      <p:pic>
        <p:nvPicPr>
          <p:cNvPr id="12" name="Image 3" descr="preencoded.png"/>
          <p:cNvPicPr>
            <a:picLocks noChangeAspect="1"/>
          </p:cNvPicPr>
          <p:nvPr/>
        </p:nvPicPr>
        <p:blipFill>
          <a:blip r:embed="rId6"/>
          <a:stretch>
            <a:fillRect/>
          </a:stretch>
        </p:blipFill>
        <p:spPr>
          <a:xfrm>
            <a:off x="4572000" y="2258568"/>
            <a:ext cx="4343400" cy="804672"/>
          </a:xfrm>
          <a:prstGeom prst="rect">
            <a:avLst/>
          </a:prstGeom>
        </p:spPr>
      </p:pic>
      <p:sp>
        <p:nvSpPr>
          <p:cNvPr id="13" name="Text 7"/>
          <p:cNvSpPr/>
          <p:nvPr/>
        </p:nvSpPr>
        <p:spPr>
          <a:xfrm>
            <a:off x="182880" y="3191256"/>
            <a:ext cx="8686800" cy="256032"/>
          </a:xfrm>
          <a:prstGeom prst="rect">
            <a:avLst/>
          </a:prstGeom>
          <a:noFill/>
          <a:ln/>
        </p:spPr>
        <p:txBody>
          <a:bodyPr wrap="square" rtlCol="0" anchor="ctr"/>
          <a:lstStyle/>
          <a:p>
            <a:pPr marL="0" indent="0">
              <a:buNone/>
            </a:pPr>
            <a:r>
              <a:rPr lang="en-US" sz="1100" b="1" dirty="0">
                <a:solidFill>
                  <a:srgbClr val="F5A623"/>
                </a:solidFill>
              </a:rPr>
              <a:t>ASG Step 3 – Attach to Load Balancer + CloudWatch | Step 4 – Scaling Policy (CPU 60%)</a:t>
            </a:r>
            <a:endParaRPr lang="en-US" sz="1100" dirty="0"/>
          </a:p>
        </p:txBody>
      </p:sp>
      <p:pic>
        <p:nvPicPr>
          <p:cNvPr id="14" name="Image 4" descr="preencoded.png"/>
          <p:cNvPicPr>
            <a:picLocks noChangeAspect="1"/>
          </p:cNvPicPr>
          <p:nvPr/>
        </p:nvPicPr>
        <p:blipFill>
          <a:blip r:embed="rId7"/>
          <a:stretch>
            <a:fillRect/>
          </a:stretch>
        </p:blipFill>
        <p:spPr>
          <a:xfrm>
            <a:off x="182880" y="3465576"/>
            <a:ext cx="4206240" cy="841248"/>
          </a:xfrm>
          <a:prstGeom prst="rect">
            <a:avLst/>
          </a:prstGeom>
        </p:spPr>
      </p:pic>
      <p:pic>
        <p:nvPicPr>
          <p:cNvPr id="15" name="Image 5" descr="preencoded.png"/>
          <p:cNvPicPr>
            <a:picLocks noChangeAspect="1"/>
          </p:cNvPicPr>
          <p:nvPr/>
        </p:nvPicPr>
        <p:blipFill>
          <a:blip r:embed="rId8"/>
          <a:stretch>
            <a:fillRect/>
          </a:stretch>
        </p:blipFill>
        <p:spPr>
          <a:xfrm>
            <a:off x="4572000" y="3465576"/>
            <a:ext cx="4343400" cy="841248"/>
          </a:xfrm>
          <a:prstGeom prst="rect">
            <a:avLst/>
          </a:prstGeom>
        </p:spPr>
      </p:pic>
      <p:sp>
        <p:nvSpPr>
          <p:cNvPr id="16" name="Shape 8"/>
          <p:cNvSpPr/>
          <p:nvPr/>
        </p:nvSpPr>
        <p:spPr>
          <a:xfrm>
            <a:off x="0" y="4800600"/>
            <a:ext cx="9144000" cy="342900"/>
          </a:xfrm>
          <a:prstGeom prst="rect">
            <a:avLst/>
          </a:prstGeom>
          <a:solidFill>
            <a:srgbClr val="12203A"/>
          </a:solidFill>
          <a:ln w="12700">
            <a:solidFill>
              <a:srgbClr val="12203A"/>
            </a:solidFill>
            <a:prstDash val="solid"/>
          </a:ln>
        </p:spPr>
      </p:sp>
      <p:sp>
        <p:nvSpPr>
          <p:cNvPr id="17" name="Text 9"/>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3 – Verify Load Balancing &amp; Test Auto Scaling</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Text 5"/>
          <p:cNvSpPr/>
          <p:nvPr/>
        </p:nvSpPr>
        <p:spPr>
          <a:xfrm>
            <a:off x="182880" y="749808"/>
            <a:ext cx="4572000" cy="256032"/>
          </a:xfrm>
          <a:prstGeom prst="rect">
            <a:avLst/>
          </a:prstGeom>
          <a:noFill/>
          <a:ln/>
        </p:spPr>
        <p:txBody>
          <a:bodyPr wrap="square" rtlCol="0" anchor="ctr"/>
          <a:lstStyle/>
          <a:p>
            <a:pPr marL="0" indent="0">
              <a:buNone/>
            </a:pPr>
            <a:r>
              <a:rPr lang="en-US" sz="1100" b="1" dirty="0">
                <a:solidFill>
                  <a:srgbClr val="F5A623"/>
                </a:solidFill>
              </a:rPr>
              <a:t>ASG Created – 2 Instances Running</a:t>
            </a:r>
            <a:endParaRPr lang="en-US" sz="1100" dirty="0"/>
          </a:p>
        </p:txBody>
      </p:sp>
      <p:pic>
        <p:nvPicPr>
          <p:cNvPr id="8" name="Image 0" descr="preencoded.png"/>
          <p:cNvPicPr>
            <a:picLocks noChangeAspect="1"/>
          </p:cNvPicPr>
          <p:nvPr/>
        </p:nvPicPr>
        <p:blipFill>
          <a:blip r:embed="rId3"/>
          <a:stretch>
            <a:fillRect/>
          </a:stretch>
        </p:blipFill>
        <p:spPr>
          <a:xfrm>
            <a:off x="182880" y="1005840"/>
            <a:ext cx="4206240" cy="914400"/>
          </a:xfrm>
          <a:prstGeom prst="rect">
            <a:avLst/>
          </a:prstGeom>
        </p:spPr>
      </p:pic>
      <p:sp>
        <p:nvSpPr>
          <p:cNvPr id="9" name="Text 6"/>
          <p:cNvSpPr/>
          <p:nvPr/>
        </p:nvSpPr>
        <p:spPr>
          <a:xfrm>
            <a:off x="4572000" y="749808"/>
            <a:ext cx="4572000" cy="256032"/>
          </a:xfrm>
          <a:prstGeom prst="rect">
            <a:avLst/>
          </a:prstGeom>
          <a:noFill/>
          <a:ln/>
        </p:spPr>
        <p:txBody>
          <a:bodyPr wrap="square" rtlCol="0" anchor="ctr"/>
          <a:lstStyle/>
          <a:p>
            <a:pPr marL="0" indent="0">
              <a:buNone/>
            </a:pPr>
            <a:r>
              <a:rPr lang="en-US" sz="1100" b="1" dirty="0">
                <a:solidFill>
                  <a:srgbClr val="F5A623"/>
                </a:solidFill>
              </a:rPr>
              <a:t>Target Group – Instances Healthy</a:t>
            </a:r>
            <a:endParaRPr lang="en-US" sz="1100" dirty="0"/>
          </a:p>
        </p:txBody>
      </p:sp>
      <p:pic>
        <p:nvPicPr>
          <p:cNvPr id="10" name="Image 1" descr="preencoded.png"/>
          <p:cNvPicPr>
            <a:picLocks noChangeAspect="1"/>
          </p:cNvPicPr>
          <p:nvPr/>
        </p:nvPicPr>
        <p:blipFill>
          <a:blip r:embed="rId4"/>
          <a:stretch>
            <a:fillRect/>
          </a:stretch>
        </p:blipFill>
        <p:spPr>
          <a:xfrm>
            <a:off x="4572000" y="1005840"/>
            <a:ext cx="4343400" cy="914400"/>
          </a:xfrm>
          <a:prstGeom prst="rect">
            <a:avLst/>
          </a:prstGeom>
        </p:spPr>
      </p:pic>
      <p:sp>
        <p:nvSpPr>
          <p:cNvPr id="11" name="Text 7"/>
          <p:cNvSpPr/>
          <p:nvPr/>
        </p:nvSpPr>
        <p:spPr>
          <a:xfrm>
            <a:off x="182880" y="2057400"/>
            <a:ext cx="4572000" cy="256032"/>
          </a:xfrm>
          <a:prstGeom prst="rect">
            <a:avLst/>
          </a:prstGeom>
          <a:noFill/>
          <a:ln/>
        </p:spPr>
        <p:txBody>
          <a:bodyPr wrap="square" rtlCol="0" anchor="ctr"/>
          <a:lstStyle/>
          <a:p>
            <a:pPr marL="0" indent="0">
              <a:buNone/>
            </a:pPr>
            <a:r>
              <a:rPr lang="en-US" sz="1100" b="1" dirty="0">
                <a:solidFill>
                  <a:srgbClr val="F5A623"/>
                </a:solidFill>
              </a:rPr>
              <a:t>Web App Accessible via Load Balancer DNS</a:t>
            </a:r>
            <a:endParaRPr lang="en-US" sz="1100" dirty="0"/>
          </a:p>
        </p:txBody>
      </p:sp>
      <p:pic>
        <p:nvPicPr>
          <p:cNvPr id="12" name="Image 2" descr="preencoded.png"/>
          <p:cNvPicPr>
            <a:picLocks noChangeAspect="1"/>
          </p:cNvPicPr>
          <p:nvPr/>
        </p:nvPicPr>
        <p:blipFill>
          <a:blip r:embed="rId5"/>
          <a:stretch>
            <a:fillRect/>
          </a:stretch>
        </p:blipFill>
        <p:spPr>
          <a:xfrm>
            <a:off x="182880" y="2331720"/>
            <a:ext cx="4206240" cy="1234440"/>
          </a:xfrm>
          <a:prstGeom prst="rect">
            <a:avLst/>
          </a:prstGeom>
        </p:spPr>
      </p:pic>
      <p:sp>
        <p:nvSpPr>
          <p:cNvPr id="13" name="Text 8"/>
          <p:cNvSpPr/>
          <p:nvPr/>
        </p:nvSpPr>
        <p:spPr>
          <a:xfrm>
            <a:off x="4572000" y="2057400"/>
            <a:ext cx="4572000" cy="256032"/>
          </a:xfrm>
          <a:prstGeom prst="rect">
            <a:avLst/>
          </a:prstGeom>
          <a:noFill/>
          <a:ln/>
        </p:spPr>
        <p:txBody>
          <a:bodyPr wrap="square" rtlCol="0" anchor="ctr"/>
          <a:lstStyle/>
          <a:p>
            <a:pPr marL="0" indent="0">
              <a:buNone/>
            </a:pPr>
            <a:r>
              <a:rPr lang="en-US" sz="1100" b="1" dirty="0">
                <a:solidFill>
                  <a:srgbClr val="F5A623"/>
                </a:solidFill>
              </a:rPr>
              <a:t>AlarmHigh Triggered – Scale-Out Occurred</a:t>
            </a:r>
            <a:endParaRPr lang="en-US" sz="1100" dirty="0"/>
          </a:p>
        </p:txBody>
      </p:sp>
      <p:pic>
        <p:nvPicPr>
          <p:cNvPr id="14" name="Image 3" descr="preencoded.png"/>
          <p:cNvPicPr>
            <a:picLocks noChangeAspect="1"/>
          </p:cNvPicPr>
          <p:nvPr/>
        </p:nvPicPr>
        <p:blipFill>
          <a:blip r:embed="rId6"/>
          <a:stretch>
            <a:fillRect/>
          </a:stretch>
        </p:blipFill>
        <p:spPr>
          <a:xfrm>
            <a:off x="4572000" y="2331720"/>
            <a:ext cx="4343400" cy="804672"/>
          </a:xfrm>
          <a:prstGeom prst="rect">
            <a:avLst/>
          </a:prstGeom>
        </p:spPr>
      </p:pic>
      <p:pic>
        <p:nvPicPr>
          <p:cNvPr id="15" name="Image 4" descr="preencoded.png"/>
          <p:cNvPicPr>
            <a:picLocks noChangeAspect="1"/>
          </p:cNvPicPr>
          <p:nvPr/>
        </p:nvPicPr>
        <p:blipFill>
          <a:blip r:embed="rId7"/>
          <a:stretch>
            <a:fillRect/>
          </a:stretch>
        </p:blipFill>
        <p:spPr>
          <a:xfrm>
            <a:off x="4572000" y="3246120"/>
            <a:ext cx="4343400" cy="804672"/>
          </a:xfrm>
          <a:prstGeom prst="rect">
            <a:avLst/>
          </a:prstGeom>
        </p:spPr>
      </p:pic>
      <p:sp>
        <p:nvSpPr>
          <p:cNvPr id="16" name="Text 9"/>
          <p:cNvSpPr/>
          <p:nvPr/>
        </p:nvSpPr>
        <p:spPr>
          <a:xfrm>
            <a:off x="182880" y="3703320"/>
            <a:ext cx="8686800" cy="256032"/>
          </a:xfrm>
          <a:prstGeom prst="rect">
            <a:avLst/>
          </a:prstGeom>
          <a:noFill/>
          <a:ln/>
        </p:spPr>
        <p:txBody>
          <a:bodyPr wrap="square" rtlCol="0" anchor="ctr"/>
          <a:lstStyle/>
          <a:p>
            <a:pPr marL="0" indent="0">
              <a:buNone/>
            </a:pPr>
            <a:r>
              <a:rPr lang="en-US" sz="1100" b="1" dirty="0">
                <a:solidFill>
                  <a:srgbClr val="F5A623"/>
                </a:solidFill>
              </a:rPr>
              <a:t>Web Server 1 Terminated – ASG maintained healthy instance count</a:t>
            </a:r>
            <a:endParaRPr lang="en-US" sz="1100" dirty="0"/>
          </a:p>
        </p:txBody>
      </p:sp>
      <p:pic>
        <p:nvPicPr>
          <p:cNvPr id="17" name="Image 5" descr="preencoded.png"/>
          <p:cNvPicPr>
            <a:picLocks noChangeAspect="1"/>
          </p:cNvPicPr>
          <p:nvPr/>
        </p:nvPicPr>
        <p:blipFill>
          <a:blip r:embed="rId8"/>
          <a:stretch>
            <a:fillRect/>
          </a:stretch>
        </p:blipFill>
        <p:spPr>
          <a:xfrm>
            <a:off x="182880" y="3977640"/>
            <a:ext cx="3657600" cy="502920"/>
          </a:xfrm>
          <a:prstGeom prst="rect">
            <a:avLst/>
          </a:prstGeom>
        </p:spPr>
      </p:pic>
      <p:sp>
        <p:nvSpPr>
          <p:cNvPr id="18" name="Shape 10"/>
          <p:cNvSpPr/>
          <p:nvPr/>
        </p:nvSpPr>
        <p:spPr>
          <a:xfrm>
            <a:off x="0" y="4800600"/>
            <a:ext cx="9144000" cy="342900"/>
          </a:xfrm>
          <a:prstGeom prst="rect">
            <a:avLst/>
          </a:prstGeom>
          <a:solidFill>
            <a:srgbClr val="12203A"/>
          </a:solidFill>
          <a:ln w="12700">
            <a:solidFill>
              <a:srgbClr val="12203A"/>
            </a:solidFill>
            <a:prstDash val="solid"/>
          </a:ln>
        </p:spPr>
      </p:sp>
      <p:sp>
        <p:nvSpPr>
          <p:cNvPr id="19" name="Text 11"/>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4 – Reflection Questions (1 &amp; 2)</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Shape 5"/>
          <p:cNvSpPr/>
          <p:nvPr/>
        </p:nvSpPr>
        <p:spPr>
          <a:xfrm>
            <a:off x="164592" y="804672"/>
            <a:ext cx="8814816" cy="1719072"/>
          </a:xfrm>
          <a:prstGeom prst="rect">
            <a:avLst/>
          </a:prstGeom>
          <a:solidFill>
            <a:srgbClr val="EAF0F8"/>
          </a:solidFill>
          <a:ln/>
          <a:effectLst>
            <a:outerShdw blurRad="63500" dist="12700" dir="8100000" algn="bl" rotWithShape="0">
              <a:srgbClr val="000000">
                <a:alpha val="8000"/>
              </a:srgbClr>
            </a:outerShdw>
          </a:effectLst>
        </p:spPr>
      </p:sp>
      <p:sp>
        <p:nvSpPr>
          <p:cNvPr id="8" name="Shape 6"/>
          <p:cNvSpPr/>
          <p:nvPr/>
        </p:nvSpPr>
        <p:spPr>
          <a:xfrm>
            <a:off x="164592" y="804672"/>
            <a:ext cx="109728" cy="1719072"/>
          </a:xfrm>
          <a:prstGeom prst="rect">
            <a:avLst/>
          </a:prstGeom>
          <a:solidFill>
            <a:srgbClr val="1A6496"/>
          </a:solidFill>
          <a:ln w="12700">
            <a:solidFill>
              <a:srgbClr val="1A6496"/>
            </a:solidFill>
            <a:prstDash val="solid"/>
          </a:ln>
        </p:spPr>
      </p:sp>
      <p:sp>
        <p:nvSpPr>
          <p:cNvPr id="9" name="Text 7"/>
          <p:cNvSpPr/>
          <p:nvPr/>
        </p:nvSpPr>
        <p:spPr>
          <a:xfrm>
            <a:off x="384048" y="859536"/>
            <a:ext cx="8412480" cy="347472"/>
          </a:xfrm>
          <a:prstGeom prst="rect">
            <a:avLst/>
          </a:prstGeom>
          <a:noFill/>
          <a:ln/>
        </p:spPr>
        <p:txBody>
          <a:bodyPr wrap="square" rtlCol="0" anchor="ctr"/>
          <a:lstStyle/>
          <a:p>
            <a:pPr marL="0" indent="0">
              <a:buNone/>
            </a:pPr>
            <a:r>
              <a:rPr lang="en-US" sz="1200" b="1" dirty="0">
                <a:solidFill>
                  <a:srgbClr val="1C2B4A"/>
                </a:solidFill>
              </a:rPr>
              <a:t>Q1: Why was termination protection enabled while launching the EC2 instance?</a:t>
            </a:r>
            <a:endParaRPr lang="en-US" sz="1200" dirty="0"/>
          </a:p>
        </p:txBody>
      </p:sp>
      <p:sp>
        <p:nvSpPr>
          <p:cNvPr id="10" name="Text 8"/>
          <p:cNvSpPr/>
          <p:nvPr/>
        </p:nvSpPr>
        <p:spPr>
          <a:xfrm>
            <a:off x="384048" y="1234440"/>
            <a:ext cx="8412480" cy="1234440"/>
          </a:xfrm>
          <a:prstGeom prst="rect">
            <a:avLst/>
          </a:prstGeom>
          <a:noFill/>
          <a:ln/>
        </p:spPr>
        <p:txBody>
          <a:bodyPr wrap="square" rtlCol="0" anchor="ctr"/>
          <a:lstStyle/>
          <a:p>
            <a:pPr marL="0" indent="0">
              <a:buNone/>
            </a:pPr>
            <a:r>
              <a:rPr lang="en-US" sz="1100" dirty="0">
                <a:solidFill>
                  <a:srgbClr val="1C2B4A"/>
                </a:solidFill>
              </a:rPr>
              <a:t>Termination protection was enabled to prevent accidental </a:t>
            </a:r>
            <a:r>
              <a:rPr lang="en-US" sz="1100" dirty="0" smtClean="0">
                <a:solidFill>
                  <a:srgbClr val="1C2B4A"/>
                </a:solidFill>
              </a:rPr>
              <a:t>deletion by </a:t>
            </a:r>
            <a:r>
              <a:rPr lang="en-US" sz="1100" dirty="0">
                <a:solidFill>
                  <a:srgbClr val="1C2B4A"/>
                </a:solidFill>
              </a:rPr>
              <a:t>a user mistake, an automated process, or an unintended API call. Since this EC2 instance was the foundation for the entire lab (hosting the web application, used to create the AMI, and serving as the base for Auto Scaling), accidental termination would mean losing all configuration. With protection enabled, any termination attempt is blocked unless explicitly disabled first.</a:t>
            </a:r>
            <a:endParaRPr lang="en-US" sz="1100" dirty="0"/>
          </a:p>
        </p:txBody>
      </p:sp>
      <p:sp>
        <p:nvSpPr>
          <p:cNvPr id="11" name="Shape 9"/>
          <p:cNvSpPr/>
          <p:nvPr/>
        </p:nvSpPr>
        <p:spPr>
          <a:xfrm>
            <a:off x="164592" y="2670048"/>
            <a:ext cx="8814816" cy="1901952"/>
          </a:xfrm>
          <a:prstGeom prst="rect">
            <a:avLst/>
          </a:prstGeom>
          <a:solidFill>
            <a:srgbClr val="EAF5EA"/>
          </a:solidFill>
          <a:ln/>
          <a:effectLst>
            <a:outerShdw blurRad="63500" dist="12700" dir="8100000" algn="bl" rotWithShape="0">
              <a:srgbClr val="000000">
                <a:alpha val="8000"/>
              </a:srgbClr>
            </a:outerShdw>
          </a:effectLst>
        </p:spPr>
      </p:sp>
      <p:sp>
        <p:nvSpPr>
          <p:cNvPr id="12" name="Shape 10"/>
          <p:cNvSpPr/>
          <p:nvPr/>
        </p:nvSpPr>
        <p:spPr>
          <a:xfrm>
            <a:off x="164592" y="2670048"/>
            <a:ext cx="109728" cy="1901952"/>
          </a:xfrm>
          <a:prstGeom prst="rect">
            <a:avLst/>
          </a:prstGeom>
          <a:solidFill>
            <a:srgbClr val="1A7A4A"/>
          </a:solidFill>
          <a:ln w="12700">
            <a:solidFill>
              <a:srgbClr val="1A7A4A"/>
            </a:solidFill>
            <a:prstDash val="solid"/>
          </a:ln>
        </p:spPr>
      </p:sp>
      <p:sp>
        <p:nvSpPr>
          <p:cNvPr id="13" name="Text 11"/>
          <p:cNvSpPr/>
          <p:nvPr/>
        </p:nvSpPr>
        <p:spPr>
          <a:xfrm>
            <a:off x="384048" y="2724912"/>
            <a:ext cx="8412480" cy="347472"/>
          </a:xfrm>
          <a:prstGeom prst="rect">
            <a:avLst/>
          </a:prstGeom>
          <a:noFill/>
          <a:ln/>
        </p:spPr>
        <p:txBody>
          <a:bodyPr wrap="square" rtlCol="0" anchor="ctr"/>
          <a:lstStyle/>
          <a:p>
            <a:pPr marL="0" indent="0">
              <a:buNone/>
            </a:pPr>
            <a:r>
              <a:rPr lang="en-US" sz="1200" b="1" dirty="0">
                <a:solidFill>
                  <a:srgbClr val="1C2B4A"/>
                </a:solidFill>
              </a:rPr>
              <a:t>Q2: Which metrics did you monitor to check the EC2 instance performance?</a:t>
            </a:r>
            <a:endParaRPr lang="en-US" sz="1200" dirty="0"/>
          </a:p>
        </p:txBody>
      </p:sp>
      <p:sp>
        <p:nvSpPr>
          <p:cNvPr id="14" name="Text 12"/>
          <p:cNvSpPr/>
          <p:nvPr/>
        </p:nvSpPr>
        <p:spPr>
          <a:xfrm>
            <a:off x="384048" y="3090672"/>
            <a:ext cx="8412480" cy="1417320"/>
          </a:xfrm>
          <a:prstGeom prst="rect">
            <a:avLst/>
          </a:prstGeom>
          <a:noFill/>
          <a:ln/>
        </p:spPr>
        <p:txBody>
          <a:bodyPr wrap="square" rtlCol="0" anchor="ctr"/>
          <a:lstStyle/>
          <a:p>
            <a:pPr marL="0" indent="0">
              <a:buNone/>
            </a:pPr>
            <a:r>
              <a:rPr lang="en-US" sz="1100" b="1" dirty="0">
                <a:solidFill>
                  <a:srgbClr val="1C2B4A"/>
                </a:solidFill>
              </a:rPr>
              <a:t>• CPU Utilization</a:t>
            </a:r>
            <a:r>
              <a:rPr lang="en-US" sz="1100" dirty="0">
                <a:solidFill>
                  <a:srgbClr val="1C2B4A"/>
                </a:solidFill>
              </a:rPr>
              <a:t> – percentage of compute units in use; indicates load vs idle state.
</a:t>
            </a:r>
            <a:r>
              <a:rPr lang="en-US" sz="1100" b="1" dirty="0">
                <a:solidFill>
                  <a:srgbClr val="1C2B4A"/>
                </a:solidFill>
              </a:rPr>
              <a:t>• Network In / Network Out</a:t>
            </a:r>
            <a:r>
              <a:rPr lang="en-US" sz="1100" dirty="0">
                <a:solidFill>
                  <a:srgbClr val="1C2B4A"/>
                </a:solidFill>
              </a:rPr>
              <a:t> – volume of incoming and outgoing traffic; detects traffic spikes.
</a:t>
            </a:r>
            <a:r>
              <a:rPr lang="en-US" sz="1100" b="1" dirty="0">
                <a:solidFill>
                  <a:srgbClr val="1C2B4A"/>
                </a:solidFill>
              </a:rPr>
              <a:t>• Disk Read / Write (I/O)</a:t>
            </a:r>
            <a:r>
              <a:rPr lang="en-US" sz="1100" dirty="0">
                <a:solidFill>
                  <a:srgbClr val="1C2B4A"/>
                </a:solidFill>
              </a:rPr>
              <a:t> – read/write operations on instance storage; identifies I/O bottlenecks.
</a:t>
            </a:r>
            <a:r>
              <a:rPr lang="en-US" sz="1100" b="1" dirty="0">
                <a:solidFill>
                  <a:srgbClr val="1C2B4A"/>
                </a:solidFill>
              </a:rPr>
              <a:t>• Status Check Metrics</a:t>
            </a:r>
            <a:r>
              <a:rPr lang="en-US" sz="1100" dirty="0">
                <a:solidFill>
                  <a:srgbClr val="1C2B4A"/>
                </a:solidFill>
              </a:rPr>
              <a:t> – system &amp; instance health checks confirming reachability and OS health.</a:t>
            </a:r>
            <a:endParaRPr lang="en-US" sz="1100" dirty="0"/>
          </a:p>
        </p:txBody>
      </p:sp>
      <p:sp>
        <p:nvSpPr>
          <p:cNvPr id="15" name="Shape 13"/>
          <p:cNvSpPr/>
          <p:nvPr/>
        </p:nvSpPr>
        <p:spPr>
          <a:xfrm>
            <a:off x="0" y="4800600"/>
            <a:ext cx="9144000" cy="342900"/>
          </a:xfrm>
          <a:prstGeom prst="rect">
            <a:avLst/>
          </a:prstGeom>
          <a:solidFill>
            <a:srgbClr val="12203A"/>
          </a:solidFill>
          <a:ln w="12700">
            <a:solidFill>
              <a:srgbClr val="12203A"/>
            </a:solidFill>
            <a:prstDash val="solid"/>
          </a:ln>
        </p:spPr>
      </p:sp>
      <p:sp>
        <p:nvSpPr>
          <p:cNvPr id="16" name="Text 1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4 – Reflection Questions (3 &amp; 4)</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Shape 5"/>
          <p:cNvSpPr/>
          <p:nvPr/>
        </p:nvSpPr>
        <p:spPr>
          <a:xfrm>
            <a:off x="164592" y="804672"/>
            <a:ext cx="8814816" cy="1627632"/>
          </a:xfrm>
          <a:prstGeom prst="rect">
            <a:avLst/>
          </a:prstGeom>
          <a:solidFill>
            <a:srgbClr val="EAF0F8"/>
          </a:solidFill>
          <a:ln/>
          <a:effectLst>
            <a:outerShdw blurRad="63500" dist="12700" dir="8100000" algn="bl" rotWithShape="0">
              <a:srgbClr val="000000">
                <a:alpha val="8000"/>
              </a:srgbClr>
            </a:outerShdw>
          </a:effectLst>
        </p:spPr>
      </p:sp>
      <p:sp>
        <p:nvSpPr>
          <p:cNvPr id="8" name="Shape 6"/>
          <p:cNvSpPr/>
          <p:nvPr/>
        </p:nvSpPr>
        <p:spPr>
          <a:xfrm>
            <a:off x="164592" y="804672"/>
            <a:ext cx="109728" cy="1627632"/>
          </a:xfrm>
          <a:prstGeom prst="rect">
            <a:avLst/>
          </a:prstGeom>
          <a:solidFill>
            <a:srgbClr val="1A6496"/>
          </a:solidFill>
          <a:ln w="12700">
            <a:solidFill>
              <a:srgbClr val="1A6496"/>
            </a:solidFill>
            <a:prstDash val="solid"/>
          </a:ln>
        </p:spPr>
      </p:sp>
      <p:sp>
        <p:nvSpPr>
          <p:cNvPr id="9" name="Text 7"/>
          <p:cNvSpPr/>
          <p:nvPr/>
        </p:nvSpPr>
        <p:spPr>
          <a:xfrm>
            <a:off x="384048" y="859536"/>
            <a:ext cx="8412480" cy="347472"/>
          </a:xfrm>
          <a:prstGeom prst="rect">
            <a:avLst/>
          </a:prstGeom>
          <a:noFill/>
          <a:ln/>
        </p:spPr>
        <p:txBody>
          <a:bodyPr wrap="square" rtlCol="0" anchor="ctr"/>
          <a:lstStyle/>
          <a:p>
            <a:pPr marL="0" indent="0">
              <a:buNone/>
            </a:pPr>
            <a:r>
              <a:rPr lang="en-US" sz="1200" b="1" dirty="0">
                <a:solidFill>
                  <a:srgbClr val="1C2B4A"/>
                </a:solidFill>
              </a:rPr>
              <a:t>Q3: Why did you modify the security group to allow HTTP access?</a:t>
            </a:r>
            <a:endParaRPr lang="en-US" sz="1200" dirty="0"/>
          </a:p>
        </p:txBody>
      </p:sp>
      <p:sp>
        <p:nvSpPr>
          <p:cNvPr id="10" name="Text 8"/>
          <p:cNvSpPr/>
          <p:nvPr/>
        </p:nvSpPr>
        <p:spPr>
          <a:xfrm>
            <a:off x="384048" y="1234440"/>
            <a:ext cx="8412480" cy="1143000"/>
          </a:xfrm>
          <a:prstGeom prst="rect">
            <a:avLst/>
          </a:prstGeom>
          <a:noFill/>
          <a:ln/>
        </p:spPr>
        <p:txBody>
          <a:bodyPr wrap="square" rtlCol="0" anchor="ctr"/>
          <a:lstStyle/>
          <a:p>
            <a:pPr marL="0" indent="0">
              <a:buNone/>
            </a:pPr>
            <a:r>
              <a:rPr lang="en-US" sz="1100" dirty="0">
                <a:solidFill>
                  <a:srgbClr val="1C2B4A"/>
                </a:solidFill>
              </a:rPr>
              <a:t>By default, a new security group blocks all inbound traffic. HTTP (port 80) had to be explicitly allowed so users and the Load Balancer could reach the web server in a browser. Without this inbound rule, all web requests would be silently </a:t>
            </a:r>
            <a:r>
              <a:rPr lang="en-US" sz="1100" dirty="0" smtClean="0">
                <a:solidFill>
                  <a:srgbClr val="1C2B4A"/>
                </a:solidFill>
              </a:rPr>
              <a:t>dropped </a:t>
            </a:r>
            <a:r>
              <a:rPr lang="en-US" sz="1100" dirty="0">
                <a:solidFill>
                  <a:srgbClr val="1C2B4A"/>
                </a:solidFill>
              </a:rPr>
              <a:t>even if Apache/Nginx was running perfectly inside the instance. Security groups act as virtual firewalls; every required port must be opened intentionally.</a:t>
            </a:r>
            <a:endParaRPr lang="en-US" sz="1100" dirty="0"/>
          </a:p>
        </p:txBody>
      </p:sp>
      <p:sp>
        <p:nvSpPr>
          <p:cNvPr id="11" name="Shape 9"/>
          <p:cNvSpPr/>
          <p:nvPr/>
        </p:nvSpPr>
        <p:spPr>
          <a:xfrm>
            <a:off x="164592" y="2578608"/>
            <a:ext cx="8814816" cy="1993392"/>
          </a:xfrm>
          <a:prstGeom prst="rect">
            <a:avLst/>
          </a:prstGeom>
          <a:solidFill>
            <a:srgbClr val="EAF5EA"/>
          </a:solidFill>
          <a:ln/>
          <a:effectLst>
            <a:outerShdw blurRad="63500" dist="12700" dir="8100000" algn="bl" rotWithShape="0">
              <a:srgbClr val="000000">
                <a:alpha val="8000"/>
              </a:srgbClr>
            </a:outerShdw>
          </a:effectLst>
        </p:spPr>
      </p:sp>
      <p:sp>
        <p:nvSpPr>
          <p:cNvPr id="12" name="Shape 10"/>
          <p:cNvSpPr/>
          <p:nvPr/>
        </p:nvSpPr>
        <p:spPr>
          <a:xfrm>
            <a:off x="164592" y="2578608"/>
            <a:ext cx="109728" cy="1993392"/>
          </a:xfrm>
          <a:prstGeom prst="rect">
            <a:avLst/>
          </a:prstGeom>
          <a:solidFill>
            <a:srgbClr val="1A7A4A"/>
          </a:solidFill>
          <a:ln w="12700">
            <a:solidFill>
              <a:srgbClr val="1A7A4A"/>
            </a:solidFill>
            <a:prstDash val="solid"/>
          </a:ln>
        </p:spPr>
      </p:sp>
      <p:sp>
        <p:nvSpPr>
          <p:cNvPr id="13" name="Text 11"/>
          <p:cNvSpPr/>
          <p:nvPr/>
        </p:nvSpPr>
        <p:spPr>
          <a:xfrm>
            <a:off x="384048" y="2633472"/>
            <a:ext cx="8412480" cy="347472"/>
          </a:xfrm>
          <a:prstGeom prst="rect">
            <a:avLst/>
          </a:prstGeom>
          <a:noFill/>
          <a:ln/>
        </p:spPr>
        <p:txBody>
          <a:bodyPr wrap="square" rtlCol="0" anchor="ctr"/>
          <a:lstStyle/>
          <a:p>
            <a:pPr marL="0" indent="0">
              <a:buNone/>
            </a:pPr>
            <a:r>
              <a:rPr lang="en-US" sz="1200" b="1" dirty="0">
                <a:solidFill>
                  <a:srgbClr val="1C2B4A"/>
                </a:solidFill>
              </a:rPr>
              <a:t>Q4: What is the purpose of using a Load Balancer in this lab?</a:t>
            </a:r>
            <a:endParaRPr lang="en-US" sz="1200" dirty="0"/>
          </a:p>
        </p:txBody>
      </p:sp>
      <p:sp>
        <p:nvSpPr>
          <p:cNvPr id="14" name="Text 12"/>
          <p:cNvSpPr/>
          <p:nvPr/>
        </p:nvSpPr>
        <p:spPr>
          <a:xfrm>
            <a:off x="384048" y="3017520"/>
            <a:ext cx="8412480" cy="1463040"/>
          </a:xfrm>
          <a:prstGeom prst="rect">
            <a:avLst/>
          </a:prstGeom>
          <a:noFill/>
          <a:ln/>
        </p:spPr>
        <p:txBody>
          <a:bodyPr wrap="square" rtlCol="0" anchor="ctr"/>
          <a:lstStyle/>
          <a:p>
            <a:pPr marL="0" indent="0">
              <a:buNone/>
            </a:pPr>
            <a:r>
              <a:rPr lang="en-US" sz="1100" b="1" dirty="0">
                <a:solidFill>
                  <a:srgbClr val="1C2B4A"/>
                </a:solidFill>
              </a:rPr>
              <a:t>• Traffic Distribution</a:t>
            </a:r>
            <a:r>
              <a:rPr lang="en-US" sz="1100" dirty="0">
                <a:solidFill>
                  <a:srgbClr val="1C2B4A"/>
                </a:solidFill>
              </a:rPr>
              <a:t> – evenly spreads HTTP requests across all healthy EC2 instances, preventing overload.
</a:t>
            </a:r>
            <a:r>
              <a:rPr lang="en-US" sz="1100" b="1" dirty="0">
                <a:solidFill>
                  <a:srgbClr val="1C2B4A"/>
                </a:solidFill>
              </a:rPr>
              <a:t>• High Availability</a:t>
            </a:r>
            <a:r>
              <a:rPr lang="en-US" sz="1100" dirty="0">
                <a:solidFill>
                  <a:srgbClr val="1C2B4A"/>
                </a:solidFill>
              </a:rPr>
              <a:t> – routes traffic only to healthy instances (via health checks); failed instances are bypassed.
</a:t>
            </a:r>
            <a:r>
              <a:rPr lang="en-US" sz="1100" b="1" dirty="0">
                <a:solidFill>
                  <a:srgbClr val="1C2B4A"/>
                </a:solidFill>
              </a:rPr>
              <a:t>• Single Entry Point</a:t>
            </a:r>
            <a:r>
              <a:rPr lang="en-US" sz="1100" dirty="0">
                <a:solidFill>
                  <a:srgbClr val="1C2B4A"/>
                </a:solidFill>
              </a:rPr>
              <a:t> – provides one stable DNS endpoint even as ASG adds/removes instances dynamically.
</a:t>
            </a:r>
            <a:r>
              <a:rPr lang="en-US" sz="1100" b="1" dirty="0">
                <a:solidFill>
                  <a:srgbClr val="1C2B4A"/>
                </a:solidFill>
              </a:rPr>
              <a:t>• Decoupling</a:t>
            </a:r>
            <a:r>
              <a:rPr lang="en-US" sz="1100" dirty="0">
                <a:solidFill>
                  <a:srgbClr val="1C2B4A"/>
                </a:solidFill>
              </a:rPr>
              <a:t> – users never interact with instances directly, making the architecture more fault-tolerant.</a:t>
            </a:r>
            <a:endParaRPr lang="en-US" sz="1100" dirty="0"/>
          </a:p>
        </p:txBody>
      </p:sp>
      <p:sp>
        <p:nvSpPr>
          <p:cNvPr id="15" name="Shape 13"/>
          <p:cNvSpPr/>
          <p:nvPr/>
        </p:nvSpPr>
        <p:spPr>
          <a:xfrm>
            <a:off x="0" y="4800600"/>
            <a:ext cx="9144000" cy="342900"/>
          </a:xfrm>
          <a:prstGeom prst="rect">
            <a:avLst/>
          </a:prstGeom>
          <a:solidFill>
            <a:srgbClr val="12203A"/>
          </a:solidFill>
          <a:ln w="12700">
            <a:solidFill>
              <a:srgbClr val="12203A"/>
            </a:solidFill>
            <a:prstDash val="solid"/>
          </a:ln>
        </p:spPr>
      </p:sp>
      <p:sp>
        <p:nvSpPr>
          <p:cNvPr id="16" name="Text 1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sp>
      <p:sp>
        <p:nvSpPr>
          <p:cNvPr id="3" name="Shape 1"/>
          <p:cNvSpPr/>
          <p:nvPr/>
        </p:nvSpPr>
        <p:spPr>
          <a:xfrm>
            <a:off x="64008" y="0"/>
            <a:ext cx="9079992" cy="658368"/>
          </a:xfrm>
          <a:prstGeom prst="rect">
            <a:avLst/>
          </a:prstGeom>
          <a:solidFill>
            <a:srgbClr val="1C2B4A"/>
          </a:solidFill>
          <a:ln w="12700">
            <a:solidFill>
              <a:srgbClr val="1C2B4A"/>
            </a:solidFill>
            <a:prstDash val="solid"/>
          </a:ln>
        </p:spPr>
      </p:sp>
      <p:sp>
        <p:nvSpPr>
          <p:cNvPr id="4" name="Text 2"/>
          <p:cNvSpPr/>
          <p:nvPr/>
        </p:nvSpPr>
        <p:spPr>
          <a:xfrm>
            <a:off x="228600" y="0"/>
            <a:ext cx="8778240" cy="658368"/>
          </a:xfrm>
          <a:prstGeom prst="rect">
            <a:avLst/>
          </a:prstGeom>
          <a:noFill/>
          <a:ln/>
        </p:spPr>
        <p:txBody>
          <a:bodyPr wrap="square" rtlCol="0" anchor="ctr"/>
          <a:lstStyle/>
          <a:p>
            <a:pPr marL="0" indent="0">
              <a:buNone/>
            </a:pPr>
            <a:r>
              <a:rPr lang="en-US" sz="2200" b="1" dirty="0">
                <a:solidFill>
                  <a:srgbClr val="FFFFFF"/>
                </a:solidFill>
              </a:rPr>
              <a:t>Task 4 – Reflection Questions (5 &amp; 6)</a:t>
            </a:r>
            <a:endParaRPr lang="en-US" sz="2200" dirty="0"/>
          </a:p>
        </p:txBody>
      </p:sp>
      <p:sp>
        <p:nvSpPr>
          <p:cNvPr id="5" name="Shape 3"/>
          <p:cNvSpPr/>
          <p:nvPr/>
        </p:nvSpPr>
        <p:spPr>
          <a:xfrm>
            <a:off x="0" y="4800600"/>
            <a:ext cx="9144000" cy="342900"/>
          </a:xfrm>
          <a:prstGeom prst="rect">
            <a:avLst/>
          </a:prstGeom>
          <a:solidFill>
            <a:srgbClr val="12203A"/>
          </a:solidFill>
          <a:ln w="12700">
            <a:solidFill>
              <a:srgbClr val="12203A"/>
            </a:solidFill>
            <a:prstDash val="solid"/>
          </a:ln>
        </p:spPr>
      </p:sp>
      <p:sp>
        <p:nvSpPr>
          <p:cNvPr id="6" name="Text 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
        <p:nvSpPr>
          <p:cNvPr id="7" name="Shape 5"/>
          <p:cNvSpPr/>
          <p:nvPr/>
        </p:nvSpPr>
        <p:spPr>
          <a:xfrm>
            <a:off x="164592" y="804672"/>
            <a:ext cx="8814816" cy="1828800"/>
          </a:xfrm>
          <a:prstGeom prst="rect">
            <a:avLst/>
          </a:prstGeom>
          <a:solidFill>
            <a:srgbClr val="EAF0F8"/>
          </a:solidFill>
          <a:ln/>
          <a:effectLst>
            <a:outerShdw blurRad="63500" dist="12700" dir="8100000" algn="bl" rotWithShape="0">
              <a:srgbClr val="000000">
                <a:alpha val="8000"/>
              </a:srgbClr>
            </a:outerShdw>
          </a:effectLst>
        </p:spPr>
      </p:sp>
      <p:sp>
        <p:nvSpPr>
          <p:cNvPr id="8" name="Shape 6"/>
          <p:cNvSpPr/>
          <p:nvPr/>
        </p:nvSpPr>
        <p:spPr>
          <a:xfrm>
            <a:off x="164592" y="804672"/>
            <a:ext cx="109728" cy="1828800"/>
          </a:xfrm>
          <a:prstGeom prst="rect">
            <a:avLst/>
          </a:prstGeom>
          <a:solidFill>
            <a:srgbClr val="1A6496"/>
          </a:solidFill>
          <a:ln w="12700">
            <a:solidFill>
              <a:srgbClr val="1A6496"/>
            </a:solidFill>
            <a:prstDash val="solid"/>
          </a:ln>
        </p:spPr>
      </p:sp>
      <p:sp>
        <p:nvSpPr>
          <p:cNvPr id="9" name="Text 7"/>
          <p:cNvSpPr/>
          <p:nvPr/>
        </p:nvSpPr>
        <p:spPr>
          <a:xfrm>
            <a:off x="384048" y="859536"/>
            <a:ext cx="8412480" cy="347472"/>
          </a:xfrm>
          <a:prstGeom prst="rect">
            <a:avLst/>
          </a:prstGeom>
          <a:noFill/>
          <a:ln/>
        </p:spPr>
        <p:txBody>
          <a:bodyPr wrap="square" rtlCol="0" anchor="ctr"/>
          <a:lstStyle/>
          <a:p>
            <a:pPr marL="0" indent="0">
              <a:buNone/>
            </a:pPr>
            <a:r>
              <a:rPr lang="en-US" sz="1200" b="1" dirty="0">
                <a:solidFill>
                  <a:srgbClr val="1C2B4A"/>
                </a:solidFill>
              </a:rPr>
              <a:t>Q5: What happens in the Auto Scaling group when application traffic increases?</a:t>
            </a:r>
            <a:endParaRPr lang="en-US" sz="1200" dirty="0"/>
          </a:p>
        </p:txBody>
      </p:sp>
      <p:sp>
        <p:nvSpPr>
          <p:cNvPr id="10" name="Text 8"/>
          <p:cNvSpPr/>
          <p:nvPr/>
        </p:nvSpPr>
        <p:spPr>
          <a:xfrm>
            <a:off x="384048" y="1234440"/>
            <a:ext cx="8412480" cy="1325880"/>
          </a:xfrm>
          <a:prstGeom prst="rect">
            <a:avLst/>
          </a:prstGeom>
          <a:noFill/>
          <a:ln/>
        </p:spPr>
        <p:txBody>
          <a:bodyPr wrap="square" rtlCol="0" anchor="ctr"/>
          <a:lstStyle/>
          <a:p>
            <a:pPr marL="0" indent="0">
              <a:buNone/>
            </a:pPr>
            <a:r>
              <a:rPr lang="en-US" sz="1100" dirty="0">
                <a:solidFill>
                  <a:srgbClr val="1C2B4A"/>
                </a:solidFill>
              </a:rPr>
              <a:t>When CPU Utilization exceeds the target threshold (60%), the ASG triggers a </a:t>
            </a:r>
            <a:r>
              <a:rPr lang="en-US" sz="1100" b="1" dirty="0">
                <a:solidFill>
                  <a:srgbClr val="1C2B4A"/>
                </a:solidFill>
              </a:rPr>
              <a:t>scale-out</a:t>
            </a:r>
            <a:r>
              <a:rPr lang="en-US" sz="1100" dirty="0">
                <a:solidFill>
                  <a:srgbClr val="1C2B4A"/>
                </a:solidFill>
              </a:rPr>
              <a:t> action: it launches new EC2 instances using the Launch Template (referencing the pre-built AMI), automatically registers them with the Load Balancer, and redistributes traffic across all healthy instances. When traffic drops below the threshold, a </a:t>
            </a:r>
            <a:r>
              <a:rPr lang="en-US" sz="1100" b="1" dirty="0">
                <a:solidFill>
                  <a:srgbClr val="1C2B4A"/>
                </a:solidFill>
              </a:rPr>
              <a:t>scale-in</a:t>
            </a:r>
            <a:r>
              <a:rPr lang="en-US" sz="1100" dirty="0">
                <a:solidFill>
                  <a:srgbClr val="1C2B4A"/>
                </a:solidFill>
              </a:rPr>
              <a:t> removes excess instances down to the minimum count, optimizing cost. The group always maintains instance count within defined Min / Max boundaries.</a:t>
            </a:r>
            <a:endParaRPr lang="en-US" sz="1100" dirty="0"/>
          </a:p>
        </p:txBody>
      </p:sp>
      <p:sp>
        <p:nvSpPr>
          <p:cNvPr id="11" name="Shape 9"/>
          <p:cNvSpPr/>
          <p:nvPr/>
        </p:nvSpPr>
        <p:spPr>
          <a:xfrm>
            <a:off x="164592" y="2770632"/>
            <a:ext cx="8814816" cy="1828800"/>
          </a:xfrm>
          <a:prstGeom prst="rect">
            <a:avLst/>
          </a:prstGeom>
          <a:solidFill>
            <a:srgbClr val="EAF5EA"/>
          </a:solidFill>
          <a:ln/>
          <a:effectLst>
            <a:outerShdw blurRad="63500" dist="12700" dir="8100000" algn="bl" rotWithShape="0">
              <a:srgbClr val="000000">
                <a:alpha val="8000"/>
              </a:srgbClr>
            </a:outerShdw>
          </a:effectLst>
        </p:spPr>
      </p:sp>
      <p:sp>
        <p:nvSpPr>
          <p:cNvPr id="12" name="Shape 10"/>
          <p:cNvSpPr/>
          <p:nvPr/>
        </p:nvSpPr>
        <p:spPr>
          <a:xfrm>
            <a:off x="164592" y="2770632"/>
            <a:ext cx="109728" cy="1828800"/>
          </a:xfrm>
          <a:prstGeom prst="rect">
            <a:avLst/>
          </a:prstGeom>
          <a:solidFill>
            <a:srgbClr val="1A7A4A"/>
          </a:solidFill>
          <a:ln w="12700">
            <a:solidFill>
              <a:srgbClr val="1A7A4A"/>
            </a:solidFill>
            <a:prstDash val="solid"/>
          </a:ln>
        </p:spPr>
      </p:sp>
      <p:sp>
        <p:nvSpPr>
          <p:cNvPr id="13" name="Text 11"/>
          <p:cNvSpPr/>
          <p:nvPr/>
        </p:nvSpPr>
        <p:spPr>
          <a:xfrm>
            <a:off x="384048" y="2825496"/>
            <a:ext cx="8412480" cy="347472"/>
          </a:xfrm>
          <a:prstGeom prst="rect">
            <a:avLst/>
          </a:prstGeom>
          <a:noFill/>
          <a:ln/>
        </p:spPr>
        <p:txBody>
          <a:bodyPr wrap="square" rtlCol="0" anchor="ctr"/>
          <a:lstStyle/>
          <a:p>
            <a:pPr marL="0" indent="0">
              <a:buNone/>
            </a:pPr>
            <a:r>
              <a:rPr lang="en-US" sz="1200" b="1" dirty="0">
                <a:solidFill>
                  <a:srgbClr val="1C2B4A"/>
                </a:solidFill>
              </a:rPr>
              <a:t>Q6: Why did you create an AMI before creating the launch template?</a:t>
            </a:r>
            <a:endParaRPr lang="en-US" sz="1200" dirty="0"/>
          </a:p>
        </p:txBody>
      </p:sp>
      <p:sp>
        <p:nvSpPr>
          <p:cNvPr id="14" name="Text 12"/>
          <p:cNvSpPr/>
          <p:nvPr/>
        </p:nvSpPr>
        <p:spPr>
          <a:xfrm>
            <a:off x="384048" y="3200400"/>
            <a:ext cx="8412480" cy="1325880"/>
          </a:xfrm>
          <a:prstGeom prst="rect">
            <a:avLst/>
          </a:prstGeom>
          <a:noFill/>
          <a:ln/>
        </p:spPr>
        <p:txBody>
          <a:bodyPr wrap="square" rtlCol="0" anchor="ctr"/>
          <a:lstStyle/>
          <a:p>
            <a:pPr marL="0" indent="0">
              <a:buNone/>
            </a:pPr>
            <a:r>
              <a:rPr lang="en-US" sz="1100" dirty="0">
                <a:solidFill>
                  <a:srgbClr val="1C2B4A"/>
                </a:solidFill>
              </a:rPr>
              <a:t>The AMI was created first because it is the blueprint that the Launch Template references. An AMI is a point-in-time snapshot of the EC2 instance </a:t>
            </a:r>
            <a:r>
              <a:rPr lang="en-US" sz="1100" dirty="0" smtClean="0">
                <a:solidFill>
                  <a:srgbClr val="1C2B4A"/>
                </a:solidFill>
              </a:rPr>
              <a:t> </a:t>
            </a:r>
            <a:r>
              <a:rPr lang="en-US" sz="1100" dirty="0">
                <a:solidFill>
                  <a:srgbClr val="1C2B4A"/>
                </a:solidFill>
              </a:rPr>
              <a:t>capturing the OS, installed software </a:t>
            </a:r>
            <a:r>
              <a:rPr lang="en-US" sz="1100" dirty="0" smtClean="0">
                <a:solidFill>
                  <a:srgbClr val="1C2B4A"/>
                </a:solidFill>
              </a:rPr>
              <a:t>in </a:t>
            </a:r>
            <a:r>
              <a:rPr lang="en-US" sz="1100" dirty="0">
                <a:solidFill>
                  <a:srgbClr val="1C2B4A"/>
                </a:solidFill>
              </a:rPr>
              <a:t>a ready-to-run state. When Auto Scaling needs to launch a new instance during scale-out, it uses the Launch Template </a:t>
            </a:r>
            <a:r>
              <a:rPr lang="en-US" sz="1100" dirty="0" smtClean="0">
                <a:solidFill>
                  <a:srgbClr val="1C2B4A"/>
                </a:solidFill>
              </a:rPr>
              <a:t>-&gt; </a:t>
            </a:r>
            <a:r>
              <a:rPr lang="en-US" sz="1100" dirty="0">
                <a:solidFill>
                  <a:srgbClr val="1C2B4A"/>
                </a:solidFill>
              </a:rPr>
              <a:t>AMI to guarantee every new instance is identical to the original: pre-configured, pre-installed, and immediately ready to serve traffic. Without the AMI, repeatable automated scaling would be impossible.</a:t>
            </a:r>
            <a:endParaRPr lang="en-US" sz="1100" dirty="0"/>
          </a:p>
        </p:txBody>
      </p:sp>
      <p:sp>
        <p:nvSpPr>
          <p:cNvPr id="15" name="Shape 13"/>
          <p:cNvSpPr/>
          <p:nvPr/>
        </p:nvSpPr>
        <p:spPr>
          <a:xfrm>
            <a:off x="0" y="4800600"/>
            <a:ext cx="9144000" cy="342900"/>
          </a:xfrm>
          <a:prstGeom prst="rect">
            <a:avLst/>
          </a:prstGeom>
          <a:solidFill>
            <a:srgbClr val="12203A"/>
          </a:solidFill>
          <a:ln w="12700">
            <a:solidFill>
              <a:srgbClr val="12203A"/>
            </a:solidFill>
            <a:prstDash val="solid"/>
          </a:ln>
        </p:spPr>
      </p:sp>
      <p:sp>
        <p:nvSpPr>
          <p:cNvPr id="16" name="Text 14"/>
          <p:cNvSpPr/>
          <p:nvPr/>
        </p:nvSpPr>
        <p:spPr>
          <a:xfrm>
            <a:off x="274320" y="4818888"/>
            <a:ext cx="8595360" cy="301752"/>
          </a:xfrm>
          <a:prstGeom prst="rect">
            <a:avLst/>
          </a:prstGeom>
          <a:noFill/>
          <a:ln/>
        </p:spPr>
        <p:txBody>
          <a:bodyPr wrap="square" rtlCol="0" anchor="ctr"/>
          <a:lstStyle/>
          <a:p>
            <a:pPr marL="0" indent="0">
              <a:buNone/>
            </a:pPr>
            <a:r>
              <a:rPr lang="en-US" sz="900" dirty="0">
                <a:solidFill>
                  <a:srgbClr val="AABBCC"/>
                </a:solidFill>
              </a:rPr>
              <a:t>Assignment 2 – EC2 Launching, Load Balancing &amp; Scaling  |  EIU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1450</Words>
  <Application>Microsoft Office PowerPoint</Application>
  <PresentationFormat>On-screen Show (16:9)</PresentationFormat>
  <Paragraphs>167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 – Launching, Load balancing &amp; Scaling on AWS EC2</dc:title>
  <dc:subject>PptxGenJS Presentation</dc:subject>
  <dc:creator>Phạm Trần Gia Hưng</dc:creator>
  <cp:lastModifiedBy>Hưng Phạm Trần Gia</cp:lastModifiedBy>
  <cp:revision>3</cp:revision>
  <dcterms:created xsi:type="dcterms:W3CDTF">2026-04-21T01:51:36Z</dcterms:created>
  <dcterms:modified xsi:type="dcterms:W3CDTF">2026-04-21T02:03:13Z</dcterms:modified>
</cp:coreProperties>
</file>