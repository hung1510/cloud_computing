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9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072724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457200"/>
            <a:ext cx="3200400" cy="3200400"/>
          </a:xfrm>
          <a:prstGeom prst="ellipse">
            <a:avLst/>
          </a:prstGeom>
          <a:solidFill>
            <a:srgbClr val="1F3563">
              <a:alpha val="70000"/>
            </a:srgbClr>
          </a:solidFill>
          <a:ln w="12700">
            <a:solidFill>
              <a:srgbClr val="1F356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2926080"/>
            <a:ext cx="2011680" cy="2011680"/>
          </a:xfrm>
          <a:prstGeom prst="ellipse">
            <a:avLst/>
          </a:prstGeom>
          <a:solidFill>
            <a:srgbClr val="243F6A">
              <a:alpha val="70000"/>
            </a:srgbClr>
          </a:solidFill>
          <a:ln w="12700">
            <a:solidFill>
              <a:srgbClr val="243F6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50292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4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96112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Phạm Trần Gia Hưng – 2331200153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325880"/>
            <a:ext cx="77724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Balancing &amp;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on Local Machine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457200" y="45262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 Cloud Computing   |   Lecturer: Rohit Kumar Kasera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406640" y="228600"/>
            <a:ext cx="1508760" cy="502920"/>
          </a:xfrm>
          <a:prstGeom prst="roundRect">
            <a:avLst>
              <a:gd name="adj" fmla="val 14545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06640" y="22860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Overview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74320" y="914400"/>
            <a:ext cx="4206240" cy="17373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274320" y="914400"/>
            <a:ext cx="91440" cy="17373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38912" y="100584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1–3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&amp; Install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38912" y="1508760"/>
            <a:ext cx="38862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Python, verify pip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project folder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server.py &amp; load_balancer.py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09160" y="914400"/>
            <a:ext cx="4206240" cy="17373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09160" y="914400"/>
            <a:ext cx="91440" cy="17373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73752" y="100584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4–10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Balancing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73752" y="1508760"/>
            <a:ext cx="38862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3 server instances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&amp; test load balancer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Round-robin distribution demo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2880360"/>
            <a:ext cx="4206240" cy="17373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2880360"/>
            <a:ext cx="91440" cy="17373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297180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11–13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&amp; Failures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38912" y="3474720"/>
            <a:ext cx="38862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to 4 servers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slow server problem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failure / crash behavior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09160" y="2880360"/>
            <a:ext cx="4206240" cy="17373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09160" y="2880360"/>
            <a:ext cx="91440" cy="17373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73752" y="297180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14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Tolerance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73752" y="3474720"/>
            <a:ext cx="38862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with try/except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dead servers automatically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Graceful error handling (500)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4 – Load Balancing &amp; Scaling on Local Machine  |  EIU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1–4: Environment Setup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566928"/>
            <a:ext cx="2560320" cy="256032"/>
          </a:xfrm>
          <a:prstGeom prst="roundRect">
            <a:avLst>
              <a:gd name="adj" fmla="val 17857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6692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&amp; Installation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114800" cy="1554480"/>
          </a:xfrm>
          <a:prstGeom prst="rect">
            <a:avLst/>
          </a:prstGeom>
          <a:solidFill>
            <a:srgbClr val="E8EEF6"/>
          </a:solidFill>
          <a:ln w="12700">
            <a:solidFill>
              <a:srgbClr val="C8D6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143000"/>
            <a:ext cx="329184" cy="329184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430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1115568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Python 3.x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15087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python.org/downloads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A4A5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Check 'Add Python to PATH'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1005840"/>
            <a:ext cx="4114800" cy="1554480"/>
          </a:xfrm>
          <a:prstGeom prst="rect">
            <a:avLst/>
          </a:prstGeom>
          <a:solidFill>
            <a:srgbClr val="E8EEF6"/>
          </a:solidFill>
          <a:ln w="12700">
            <a:solidFill>
              <a:srgbClr val="C8D6E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0" y="1143000"/>
            <a:ext cx="329184" cy="329184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1430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257800" y="1115568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Installation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46320" y="15087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python --version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A4A5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pip --version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2743200"/>
            <a:ext cx="4114800" cy="1554480"/>
          </a:xfrm>
          <a:prstGeom prst="rect">
            <a:avLst/>
          </a:prstGeom>
          <a:solidFill>
            <a:srgbClr val="E8EEF6"/>
          </a:solidFill>
          <a:ln w="12700">
            <a:solidFill>
              <a:srgbClr val="C8D6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2880360"/>
            <a:ext cx="329184" cy="329184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8803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2960" y="2852928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Project Folder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11480" y="324612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mkdir load-balancing-lab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A4A5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cd load-balancing-lab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09160" y="2743200"/>
            <a:ext cx="4114800" cy="1554480"/>
          </a:xfrm>
          <a:prstGeom prst="rect">
            <a:avLst/>
          </a:prstGeom>
          <a:solidFill>
            <a:srgbClr val="E8EEF6"/>
          </a:solidFill>
          <a:ln w="12700">
            <a:solidFill>
              <a:srgbClr val="C8D6E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46320" y="2880360"/>
            <a:ext cx="329184" cy="329184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28803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257800" y="2852928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server.py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46320" y="324612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Uses BaseHTTPRequestHandler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A4A5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Reads PORT &amp; INSTANCE from args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4 – Load Balancing &amp; Scaling on Local Machine  |  EIU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4: server.py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566928"/>
            <a:ext cx="2560320" cy="256032"/>
          </a:xfrm>
          <a:prstGeom prst="roundRect">
            <a:avLst>
              <a:gd name="adj" fmla="val 17857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6692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Code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8229600" cy="3291840"/>
          </a:xfrm>
          <a:prstGeom prst="rect">
            <a:avLst/>
          </a:prstGeom>
          <a:solidFill>
            <a:srgbClr val="0D1B2E"/>
          </a:solidFill>
          <a:ln w="12700">
            <a:solidFill>
              <a:srgbClr val="0A142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960120"/>
            <a:ext cx="77724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C99C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http.server </a:t>
            </a:r>
            <a:r>
              <a:rPr lang="en-US" sz="1150" dirty="0">
                <a:solidFill>
                  <a:srgbClr val="CC99C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BaseHTTPRequestHandler, HTTPServer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CC99C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sys
</a:t>
            </a:r>
            <a:r>
              <a:rPr lang="en-US" sz="11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int(sys.argv[1])
</a:t>
            </a:r>
            <a:r>
              <a:rPr lang="en-US" sz="11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INSTANCE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sys.argv[2]
</a:t>
            </a:r>
            <a:r>
              <a:rPr lang="en-US" sz="1150" dirty="0">
                <a:solidFill>
                  <a:srgbClr val="CC99C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</a:t>
            </a:r>
            <a:r>
              <a:rPr lang="en-US" sz="11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Handler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(BaseHTTPRequestHandler):
</a:t>
            </a:r>
            <a:r>
              <a:rPr lang="en-US" sz="1150" dirty="0">
                <a:solidFill>
                  <a:srgbClr val="CC99C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</a:t>
            </a:r>
            <a:r>
              <a:rPr lang="en-US" sz="11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do_GET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(self):
        self.send_response(200)
        self.end_headers()
</a:t>
            </a:r>
            <a:r>
              <a:rPr lang="en-US" sz="11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message = f"Hello from instance {INSTANCE}"
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self.wfile.write(message.encode())
</a:t>
            </a:r>
            <a:r>
              <a:rPr lang="en-US" sz="11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HTTPServer(("localhost", PORT), Handler)
server.serve_forever()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4 – Load Balancing &amp; Scaling on Local Machine  |  EIU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5–10: Run, Test &amp; Balance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566928"/>
            <a:ext cx="2560320" cy="256032"/>
          </a:xfrm>
          <a:prstGeom prst="roundRect">
            <a:avLst>
              <a:gd name="adj" fmla="val 17857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6692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Balancing Demo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923544"/>
            <a:ext cx="329184" cy="329184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235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89611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3 Servers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1152144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python server.py 8001 1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python server.py 8002 2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python server.py 8003 3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4320" y="1581912"/>
            <a:ext cx="329184" cy="329184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5819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155448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in Browser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" y="181051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localhost:8001 → Instance 1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localhost:8002 → Instance 2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localhost:8003 → Instance 3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2240280"/>
            <a:ext cx="329184" cy="329184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22402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85800" y="221284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Requests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85800" y="246888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pip install requests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2898648"/>
            <a:ext cx="329184" cy="329184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8986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5800" y="287121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load_balancer.py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5800" y="312724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itertools.cycle() for round-robin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Forwards requests to backend servers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74320" y="3557016"/>
            <a:ext cx="329184" cy="329184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35570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5800" y="352958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Load Balancer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85800" y="378561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python load_balancer.py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Listens on port 9000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74320" y="4215384"/>
            <a:ext cx="329184" cy="329184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42153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85800" y="418795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LB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85800" y="4443984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Refresh localhost:9000 multiple times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→ Rotates: Instance 1 → 2 → 3 → 1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937760" y="8686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Round-Robin Distribution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852160" y="1280160"/>
            <a:ext cx="2011680" cy="548640"/>
          </a:xfrm>
          <a:prstGeom prst="rect">
            <a:avLst/>
          </a:prstGeom>
          <a:solidFill>
            <a:srgbClr val="1B2A4A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52160" y="12801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Balancer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localhost:9000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858000" y="1828800"/>
            <a:ext cx="0" cy="411480"/>
          </a:xfrm>
          <a:prstGeom prst="line">
            <a:avLst/>
          </a:prstGeom>
          <a:noFill/>
          <a:ln w="12700">
            <a:solidFill>
              <a:srgbClr val="8FA3BF"/>
            </a:solidFill>
            <a:prstDash val="sysDash"/>
          </a:ln>
        </p:spPr>
      </p:sp>
      <p:sp>
        <p:nvSpPr>
          <p:cNvPr id="33" name="Shape 31"/>
          <p:cNvSpPr/>
          <p:nvPr/>
        </p:nvSpPr>
        <p:spPr>
          <a:xfrm>
            <a:off x="5120640" y="2240280"/>
            <a:ext cx="2011680" cy="502920"/>
          </a:xfrm>
          <a:prstGeom prst="rect">
            <a:avLst/>
          </a:prstGeom>
          <a:solidFill>
            <a:srgbClr val="E8EEF6"/>
          </a:solidFill>
          <a:ln w="12700">
            <a:solidFill>
              <a:srgbClr val="A0B4C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20640" y="22402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 1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:8001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858000" y="1828800"/>
            <a:ext cx="0" cy="1143000"/>
          </a:xfrm>
          <a:prstGeom prst="line">
            <a:avLst/>
          </a:prstGeom>
          <a:noFill/>
          <a:ln w="12700">
            <a:solidFill>
              <a:srgbClr val="8FA3BF"/>
            </a:solidFill>
            <a:prstDash val="sysDash"/>
          </a:ln>
        </p:spPr>
      </p:sp>
      <p:sp>
        <p:nvSpPr>
          <p:cNvPr id="36" name="Shape 34"/>
          <p:cNvSpPr/>
          <p:nvPr/>
        </p:nvSpPr>
        <p:spPr>
          <a:xfrm>
            <a:off x="5120640" y="2971800"/>
            <a:ext cx="2011680" cy="502920"/>
          </a:xfrm>
          <a:prstGeom prst="rect">
            <a:avLst/>
          </a:prstGeom>
          <a:solidFill>
            <a:srgbClr val="E8EEF6"/>
          </a:solidFill>
          <a:ln w="12700">
            <a:solidFill>
              <a:srgbClr val="A0B4C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20640" y="29718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 2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:8002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858000" y="1828800"/>
            <a:ext cx="0" cy="1874520"/>
          </a:xfrm>
          <a:prstGeom prst="line">
            <a:avLst/>
          </a:prstGeom>
          <a:noFill/>
          <a:ln w="12700">
            <a:solidFill>
              <a:srgbClr val="8FA3BF"/>
            </a:solidFill>
            <a:prstDash val="sysDash"/>
          </a:ln>
        </p:spPr>
      </p:sp>
      <p:sp>
        <p:nvSpPr>
          <p:cNvPr id="39" name="Shape 37"/>
          <p:cNvSpPr/>
          <p:nvPr/>
        </p:nvSpPr>
        <p:spPr>
          <a:xfrm>
            <a:off x="5120640" y="3703320"/>
            <a:ext cx="2011680" cy="502920"/>
          </a:xfrm>
          <a:prstGeom prst="rect">
            <a:avLst/>
          </a:prstGeom>
          <a:solidFill>
            <a:srgbClr val="E8EEF6"/>
          </a:solidFill>
          <a:ln w="12700">
            <a:solidFill>
              <a:srgbClr val="A0B4C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120640" y="37033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 3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:8003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7406640" y="2240280"/>
            <a:ext cx="1371600" cy="1920240"/>
          </a:xfrm>
          <a:prstGeom prst="rect">
            <a:avLst/>
          </a:prstGeom>
          <a:solidFill>
            <a:srgbClr val="F0F7FF"/>
          </a:solidFill>
          <a:ln w="12700">
            <a:solidFill>
              <a:srgbClr val="C8D6E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424928" y="2286000"/>
            <a:ext cx="13258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2ECC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 1 → :8001
Req 2 → :8002
Req 3 → :8003
</a:t>
            </a:r>
            <a:r>
              <a:rPr lang="en-US" sz="85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 4 → :8001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4 – Load Balancing &amp; Scaling on Local Machine  |  EIU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11: Demonstrate Scaling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566928"/>
            <a:ext cx="2560320" cy="256032"/>
          </a:xfrm>
          <a:prstGeom prst="roundRect">
            <a:avLst>
              <a:gd name="adj" fmla="val 17857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6692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Scaling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841248"/>
            <a:ext cx="8595360" cy="47548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41248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More Servers = More Capacity  —  This is Horizontal Scaling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46304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(3 Servers)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754880" y="146304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(4 Servers)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1874520"/>
            <a:ext cx="3749040" cy="502920"/>
          </a:xfrm>
          <a:prstGeom prst="rect">
            <a:avLst/>
          </a:prstGeom>
          <a:solidFill>
            <a:srgbClr val="E8EEF6"/>
          </a:solidFill>
          <a:ln w="12700">
            <a:solidFill>
              <a:srgbClr val="A0B4C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87452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 1  :8001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514600"/>
            <a:ext cx="3749040" cy="502920"/>
          </a:xfrm>
          <a:prstGeom prst="rect">
            <a:avLst/>
          </a:prstGeom>
          <a:solidFill>
            <a:srgbClr val="E8EEF6"/>
          </a:solidFill>
          <a:ln w="12700">
            <a:solidFill>
              <a:srgbClr val="A0B4C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51460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 2  :8002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3154680"/>
            <a:ext cx="3749040" cy="502920"/>
          </a:xfrm>
          <a:prstGeom prst="rect">
            <a:avLst/>
          </a:prstGeom>
          <a:solidFill>
            <a:srgbClr val="E8EEF6"/>
          </a:solidFill>
          <a:ln w="12700">
            <a:solidFill>
              <a:srgbClr val="A0B4C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15468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 3  :8003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54880" y="1874520"/>
            <a:ext cx="3749040" cy="502920"/>
          </a:xfrm>
          <a:prstGeom prst="rect">
            <a:avLst/>
          </a:prstGeom>
          <a:solidFill>
            <a:srgbClr val="E8EEF6"/>
          </a:solidFill>
          <a:ln w="12700">
            <a:solidFill>
              <a:srgbClr val="A0B4C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187452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 1  :8001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54880" y="2514600"/>
            <a:ext cx="3749040" cy="502920"/>
          </a:xfrm>
          <a:prstGeom prst="rect">
            <a:avLst/>
          </a:prstGeom>
          <a:solidFill>
            <a:srgbClr val="E8EEF6"/>
          </a:solidFill>
          <a:ln w="12700">
            <a:solidFill>
              <a:srgbClr val="A0B4C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251460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 2  :8002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54880" y="3154680"/>
            <a:ext cx="3749040" cy="502920"/>
          </a:xfrm>
          <a:prstGeom prst="rect">
            <a:avLst/>
          </a:prstGeom>
          <a:solidFill>
            <a:srgbClr val="E8EEF6"/>
          </a:solidFill>
          <a:ln w="12700">
            <a:solidFill>
              <a:srgbClr val="A0B4C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315468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 3  :8003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54880" y="3794760"/>
            <a:ext cx="3749040" cy="5029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379476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 4  :8004 ✦ NEW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4069080"/>
            <a:ext cx="8412480" cy="502920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40690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 servers list in load_balancer.py → Add "http://localhost:8004" → Restart balancer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4 – Load Balancing &amp; Scaling on Local Machine  |  EIU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12: Slow Server Problem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566928"/>
            <a:ext cx="2560320" cy="256032"/>
          </a:xfrm>
          <a:prstGeom prst="roundRect">
            <a:avLst>
              <a:gd name="adj" fmla="val 17857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6692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Uneven Performance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4114800" cy="1188720"/>
          </a:xfrm>
          <a:prstGeom prst="rect">
            <a:avLst/>
          </a:prstGeom>
          <a:solidFill>
            <a:srgbClr val="0D1B2E"/>
          </a:solidFill>
          <a:ln w="12700">
            <a:solidFill>
              <a:srgbClr val="0A142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14400"/>
            <a:ext cx="38404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FA3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Add to server.py (instance 2 only)
</a:t>
            </a:r>
            <a:r>
              <a:rPr lang="en-US" sz="1100" dirty="0">
                <a:solidFill>
                  <a:srgbClr val="CC99C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
</a:t>
            </a: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.sleep(3)  </a:t>
            </a:r>
            <a:r>
              <a:rPr lang="en-US" sz="1100" dirty="0">
                <a:solidFill>
                  <a:srgbClr val="8FA3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 second delay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0" y="868680"/>
            <a:ext cx="4206240" cy="1188720"/>
          </a:xfrm>
          <a:prstGeom prst="rect">
            <a:avLst/>
          </a:prstGeom>
          <a:solidFill>
            <a:srgbClr val="E8EEF6"/>
          </a:solidFill>
          <a:ln w="12700">
            <a:solidFill>
              <a:srgbClr val="C8D6E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0" y="868680"/>
            <a:ext cx="91440" cy="1188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9160" y="9144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09160" y="1188720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4A5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Instance 2 sleeps 3 seconds before responding.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A4A5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Round-robin still routes 25% of requests to it.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A4A5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Users experience slow, inconsistent response times.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4320" y="2240280"/>
            <a:ext cx="8595360" cy="749808"/>
          </a:xfrm>
          <a:prstGeom prst="rect">
            <a:avLst/>
          </a:prstGeom>
          <a:solidFill>
            <a:srgbClr val="E8EEF6"/>
          </a:solidFill>
          <a:ln w="12700">
            <a:solidFill>
              <a:srgbClr val="C8D6E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2240280"/>
            <a:ext cx="91440" cy="7498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22860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38912" y="2560320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A5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Round-robin is blind </a:t>
            </a:r>
            <a:r>
              <a:rPr lang="en-US" sz="1000" dirty="0" smtClean="0">
                <a:solidFill>
                  <a:srgbClr val="3A4A5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- </a:t>
            </a:r>
            <a:r>
              <a:rPr lang="en-US" sz="1000" dirty="0">
                <a:solidFill>
                  <a:srgbClr val="3A4A5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it has no awareness of how long each server takes to respond. It simply cycles through the list in order.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3108960"/>
            <a:ext cx="8595360" cy="749808"/>
          </a:xfrm>
          <a:prstGeom prst="rect">
            <a:avLst/>
          </a:prstGeom>
          <a:solidFill>
            <a:srgbClr val="F0F5FF"/>
          </a:solidFill>
          <a:ln w="12700">
            <a:solidFill>
              <a:srgbClr val="C8D6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3108960"/>
            <a:ext cx="91440" cy="7498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1546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a Problem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38912" y="3429000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A5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When instance 2 is slow, the load balancer still sends it the same share of traffic. It assumes all servers are equally capable and fast.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3977640"/>
            <a:ext cx="8595360" cy="749808"/>
          </a:xfrm>
          <a:prstGeom prst="rect">
            <a:avLst/>
          </a:prstGeom>
          <a:solidFill>
            <a:srgbClr val="E8EEF6"/>
          </a:solidFill>
          <a:ln w="12700">
            <a:solidFill>
              <a:srgbClr val="C8D6E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3977640"/>
            <a:ext cx="91440" cy="7498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8912" y="40233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Fix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38912" y="4297680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A5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Weighted round-robin or Least-Connections algorithms send fewer requests to slow servers and more to fast ones </a:t>
            </a:r>
            <a:r>
              <a:rPr lang="en-US" sz="1000" dirty="0" smtClean="0">
                <a:solidFill>
                  <a:srgbClr val="3A4A5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- </a:t>
            </a:r>
            <a:r>
              <a:rPr lang="en-US" sz="1000" dirty="0">
                <a:solidFill>
                  <a:srgbClr val="3A4A5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based on actual response times.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4 – Load Balancing &amp; Scaling on Local Machine  |  EIU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13: Failure Handling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566928"/>
            <a:ext cx="2560320" cy="256032"/>
          </a:xfrm>
          <a:prstGeom prst="roundRect">
            <a:avLst>
              <a:gd name="adj" fmla="val 17857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6692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Systems Must Handle Failures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8595360" cy="621792"/>
          </a:xfrm>
          <a:prstGeom prst="rect">
            <a:avLst/>
          </a:prstGeom>
          <a:solidFill>
            <a:srgbClr val="FFF0F0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22960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Stop one server with Ctrl+C → Refresh browser → Load balancer CRASHES or HANGS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16002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Crashes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1920240"/>
            <a:ext cx="4114800" cy="1417320"/>
          </a:xfrm>
          <a:prstGeom prst="rect">
            <a:avLst/>
          </a:prstGeom>
          <a:solidFill>
            <a:srgbClr val="0D1B2E"/>
          </a:solidFill>
          <a:ln w="12700">
            <a:solidFill>
              <a:srgbClr val="0A142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993392"/>
            <a:ext cx="38404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8FA3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Original do_GET — NO error handling
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 = next(cycle)
response = requests.get(target)  </a:t>
            </a:r>
            <a:r>
              <a:rPr lang="en-US" sz="1050" dirty="0">
                <a:solidFill>
                  <a:srgbClr val="E74C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💥 CRASH
</a:t>
            </a:r>
            <a:r>
              <a:rPr lang="en-US" sz="1050" dirty="0">
                <a:solidFill>
                  <a:srgbClr val="8FA3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ConnectionRefusedError if server is down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663440" y="16002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Real Systems Must Handle This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663440" y="1920240"/>
            <a:ext cx="4206240" cy="749808"/>
          </a:xfrm>
          <a:prstGeom prst="rect">
            <a:avLst/>
          </a:prstGeom>
          <a:solidFill>
            <a:srgbClr val="E8EEF6"/>
          </a:solidFill>
          <a:ln w="12700">
            <a:solidFill>
              <a:srgbClr val="C8D6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96596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Health Checks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54880" y="224028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4A5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Periodically ping each backend. If it fails to respond, remove it from the pool automatically </a:t>
            </a:r>
            <a:r>
              <a:rPr lang="en-US" sz="950" dirty="0" smtClean="0">
                <a:solidFill>
                  <a:srgbClr val="3A4A5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- </a:t>
            </a:r>
            <a:r>
              <a:rPr lang="en-US" sz="950" dirty="0">
                <a:solidFill>
                  <a:srgbClr val="3A4A5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before users notice.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63440" y="2788920"/>
            <a:ext cx="4206240" cy="749808"/>
          </a:xfrm>
          <a:prstGeom prst="rect">
            <a:avLst/>
          </a:prstGeom>
          <a:solidFill>
            <a:srgbClr val="E8EEF6"/>
          </a:solidFill>
          <a:ln w="12700">
            <a:solidFill>
              <a:srgbClr val="C8D6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28346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Automatic Failover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54880" y="310896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4A5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Traffic is instantly rerouted to the remaining healthy servers </a:t>
            </a:r>
            <a:r>
              <a:rPr lang="en-US" sz="950" dirty="0" smtClean="0">
                <a:solidFill>
                  <a:srgbClr val="3A4A5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- </a:t>
            </a:r>
            <a:r>
              <a:rPr lang="en-US" sz="950" dirty="0">
                <a:solidFill>
                  <a:srgbClr val="3A4A5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 visible error to the user.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63440" y="3657600"/>
            <a:ext cx="4206240" cy="749808"/>
          </a:xfrm>
          <a:prstGeom prst="rect">
            <a:avLst/>
          </a:prstGeom>
          <a:solidFill>
            <a:srgbClr val="E8EEF6"/>
          </a:solidFill>
          <a:ln w="12700">
            <a:solidFill>
              <a:srgbClr val="C8D6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37033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Retry Logic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54880" y="397764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4A5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Like the try/except added in Step 14 </a:t>
            </a:r>
            <a:r>
              <a:rPr lang="en-US" sz="950" dirty="0" smtClean="0">
                <a:solidFill>
                  <a:srgbClr val="3A4A5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- </a:t>
            </a:r>
            <a:r>
              <a:rPr lang="en-US" sz="950" dirty="0">
                <a:solidFill>
                  <a:srgbClr val="3A4A5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retries the next available server before giving up and returning a 500.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4 – Load Balancing &amp; Scaling on Local Machine  |  EIU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14: Improved Load Balancer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566928"/>
            <a:ext cx="2560320" cy="256032"/>
          </a:xfrm>
          <a:prstGeom prst="roundRect">
            <a:avLst>
              <a:gd name="adj" fmla="val 17857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6692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Fault Tolerance — Dead Servers Skipped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841248"/>
            <a:ext cx="5303520" cy="3566160"/>
          </a:xfrm>
          <a:prstGeom prst="rect">
            <a:avLst/>
          </a:prstGeom>
          <a:solidFill>
            <a:srgbClr val="0D1B2E"/>
          </a:solidFill>
          <a:ln w="12700">
            <a:solidFill>
              <a:srgbClr val="0A142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32688"/>
            <a:ext cx="50749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C99C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r>
              <a:rPr lang="en-US" sz="10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do_GET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(self):
    for _ in range(len(servers)):
        target = next(cycle)
</a:t>
            </a:r>
            <a:r>
              <a:rPr lang="en-US" sz="1050" dirty="0">
                <a:solidFill>
                  <a:srgbClr val="CC99C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try:
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response = requests.get(
                target, timeout=1)
</a:t>
            </a:r>
            <a:r>
              <a:rPr lang="en-US" sz="1050" dirty="0">
                <a:solidFill>
                  <a:srgbClr val="2ECC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self.send_response(200)
            self.end_headers()
            self.wfile.write(response.content)
            return
</a:t>
            </a:r>
            <a:r>
              <a:rPr lang="en-US" sz="1050" dirty="0">
                <a:solidFill>
                  <a:srgbClr val="CC99C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except:
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continue  </a:t>
            </a:r>
            <a:r>
              <a:rPr lang="en-US" sz="1050" dirty="0">
                <a:solidFill>
                  <a:srgbClr val="8FA3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skip dead server
    # All servers failed
</a:t>
            </a:r>
            <a:r>
              <a:rPr lang="en-US" sz="1050" dirty="0">
                <a:solidFill>
                  <a:srgbClr val="E74C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self.send_response(500)
    self.end_headers()
</a:t>
            </a: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self.wfile.write(b"All servers are down")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715000" y="868680"/>
            <a:ext cx="3154680" cy="594360"/>
          </a:xfrm>
          <a:prstGeom prst="rect">
            <a:avLst/>
          </a:prstGeom>
          <a:solidFill>
            <a:srgbClr val="E8EEF6"/>
          </a:solidFill>
          <a:ln w="12700">
            <a:solidFill>
              <a:srgbClr val="C8D6E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715000" y="868680"/>
            <a:ext cx="73152" cy="59436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33872" y="896112"/>
            <a:ext cx="2971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up to len(servers) times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833872" y="1161288"/>
            <a:ext cx="2971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4A5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Tries every server at most once before giving up.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715000" y="1545336"/>
            <a:ext cx="3154680" cy="594360"/>
          </a:xfrm>
          <a:prstGeom prst="rect">
            <a:avLst/>
          </a:prstGeom>
          <a:solidFill>
            <a:srgbClr val="E8EEF6"/>
          </a:solidFill>
          <a:ln w="12700">
            <a:solidFill>
              <a:srgbClr val="C8D6E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715000" y="1545336"/>
            <a:ext cx="73152" cy="5943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33872" y="1572768"/>
            <a:ext cx="2971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timeout=1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833872" y="1837944"/>
            <a:ext cx="2971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4A5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Each request has a 1s deadline </a:t>
            </a:r>
            <a:r>
              <a:rPr lang="en-US" sz="950" dirty="0" smtClean="0">
                <a:solidFill>
                  <a:srgbClr val="3A4A5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- </a:t>
            </a:r>
            <a:r>
              <a:rPr lang="en-US" sz="950" dirty="0">
                <a:solidFill>
                  <a:srgbClr val="3A4A5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dead servers don't hang the balancer.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715000" y="2221992"/>
            <a:ext cx="3154680" cy="594360"/>
          </a:xfrm>
          <a:prstGeom prst="rect">
            <a:avLst/>
          </a:prstGeom>
          <a:solidFill>
            <a:srgbClr val="E8EEF6"/>
          </a:solidFill>
          <a:ln w="12700">
            <a:solidFill>
              <a:srgbClr val="C8D6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15000" y="2221992"/>
            <a:ext cx="73152" cy="5943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33872" y="2249424"/>
            <a:ext cx="2971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/ except + continue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833872" y="2514600"/>
            <a:ext cx="2971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4A5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Connection refused or timeout → silently skip to next server.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715000" y="2898648"/>
            <a:ext cx="3154680" cy="594360"/>
          </a:xfrm>
          <a:prstGeom prst="rect">
            <a:avLst/>
          </a:prstGeom>
          <a:solidFill>
            <a:srgbClr val="E8EEF6"/>
          </a:solidFill>
          <a:ln w="12700">
            <a:solidFill>
              <a:srgbClr val="C8D6E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715000" y="2898648"/>
            <a:ext cx="73152" cy="59436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33872" y="2926080"/>
            <a:ext cx="2971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on success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833872" y="3191256"/>
            <a:ext cx="2971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4A5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Stops the loop as soon as a healthy server responds.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715000" y="3575304"/>
            <a:ext cx="3154680" cy="594360"/>
          </a:xfrm>
          <a:prstGeom prst="rect">
            <a:avLst/>
          </a:prstGeom>
          <a:solidFill>
            <a:srgbClr val="E8EEF6"/>
          </a:solidFill>
          <a:ln w="12700">
            <a:solidFill>
              <a:srgbClr val="C8D6E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715000" y="3575304"/>
            <a:ext cx="73152" cy="59436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33872" y="3602736"/>
            <a:ext cx="2971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fallback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833872" y="3867912"/>
            <a:ext cx="2971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4A5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Only when ALL servers fail </a:t>
            </a:r>
            <a:r>
              <a:rPr lang="en-US" sz="950" dirty="0" smtClean="0">
                <a:solidFill>
                  <a:srgbClr val="3A4A5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- </a:t>
            </a:r>
            <a:r>
              <a:rPr lang="en-US" sz="950" dirty="0">
                <a:solidFill>
                  <a:srgbClr val="3A4A5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clear error message for users.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4 – Load Balancing &amp; Scaling on Local Machine  |  EIU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Before vs. After Fault Tolerance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274320" y="749808"/>
            <a:ext cx="8595360" cy="4114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4980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246120" y="74980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(Step 8)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172200" y="74980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(Step 14)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234440"/>
            <a:ext cx="8595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6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234440"/>
            <a:ext cx="2834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 servers running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91840" y="1234440"/>
            <a:ext cx="2834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Works normally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217920" y="1234440"/>
            <a:ext cx="2606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Works normally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4320" y="1984248"/>
            <a:ext cx="8595360" cy="658368"/>
          </a:xfrm>
          <a:prstGeom prst="rect">
            <a:avLst/>
          </a:prstGeom>
          <a:solidFill>
            <a:srgbClr val="E8EEF6"/>
          </a:solidFill>
          <a:ln w="12700">
            <a:solidFill>
              <a:srgbClr val="C8D6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984248"/>
            <a:ext cx="2834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server stopped (Ctrl+C)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91840" y="1984248"/>
            <a:ext cx="2834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Crashes / hangs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217920" y="1984248"/>
            <a:ext cx="2606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Automatically skips — serves from remaining 3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2734056"/>
            <a:ext cx="8595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6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34056"/>
            <a:ext cx="2834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servers stopped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91840" y="2734056"/>
            <a:ext cx="2834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Unhandled exception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217920" y="2734056"/>
            <a:ext cx="2606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Returns HTTP 500 + 'All servers are down'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74320" y="3483864"/>
            <a:ext cx="8595360" cy="658368"/>
          </a:xfrm>
          <a:prstGeom prst="rect">
            <a:avLst/>
          </a:prstGeom>
          <a:solidFill>
            <a:srgbClr val="E8EEF6"/>
          </a:solidFill>
          <a:ln w="12700">
            <a:solidFill>
              <a:srgbClr val="C8D6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483864"/>
            <a:ext cx="2834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responds slowly (3s)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91840" y="3483864"/>
            <a:ext cx="2834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25% of requests delayed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217920" y="3483864"/>
            <a:ext cx="2606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timeout=1 skips after 1s (Step 14 fix)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74320" y="434340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concept is used in production systems like AWS Elastic Load Balancer, NGINX, and HAProxy.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4 – Load Balancing &amp; Scaling on Local Machine  |  EIU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Learned &amp; Challenges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74320" y="777240"/>
            <a:ext cx="4206240" cy="1207008"/>
          </a:xfrm>
          <a:prstGeom prst="rect">
            <a:avLst/>
          </a:prstGeom>
          <a:solidFill>
            <a:srgbClr val="1F3563"/>
          </a:solidFill>
          <a:ln w="12700">
            <a:solidFill>
              <a:srgbClr val="2A458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777240"/>
            <a:ext cx="91440" cy="1207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38912" y="85039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 Round-Robin Load Balancing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38912" y="1161288"/>
            <a:ext cx="3931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EF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Distributes requests evenly across servers in a cycle. Simple and effective when all servers have equal capacity.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2148840"/>
            <a:ext cx="4206240" cy="1207008"/>
          </a:xfrm>
          <a:prstGeom prst="rect">
            <a:avLst/>
          </a:prstGeom>
          <a:solidFill>
            <a:srgbClr val="1F3563"/>
          </a:solidFill>
          <a:ln w="12700">
            <a:solidFill>
              <a:srgbClr val="2A458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2148840"/>
            <a:ext cx="91440" cy="1207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222199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Horizontal Scaling Works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38912" y="2532888"/>
            <a:ext cx="3931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EF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Adding a 4th server immediately increased capacity with only one config change — proving how easy horizontal scaling is.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3520440"/>
            <a:ext cx="4206240" cy="1207008"/>
          </a:xfrm>
          <a:prstGeom prst="rect">
            <a:avLst/>
          </a:prstGeom>
          <a:solidFill>
            <a:srgbClr val="1F3563"/>
          </a:solidFill>
          <a:ln w="12700">
            <a:solidFill>
              <a:srgbClr val="2A458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3520440"/>
            <a:ext cx="91440" cy="1207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359359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🐢  Blind Balancing Causes Uneven UX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38912" y="3904488"/>
            <a:ext cx="3931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EF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 single slow instance (time.sleep) degrades ~25% of requests. Real balancers measure response time before routing.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09160" y="777240"/>
            <a:ext cx="4206240" cy="1207008"/>
          </a:xfrm>
          <a:prstGeom prst="rect">
            <a:avLst/>
          </a:prstGeom>
          <a:solidFill>
            <a:srgbClr val="1F3563"/>
          </a:solidFill>
          <a:ln w="12700">
            <a:solidFill>
              <a:srgbClr val="2A458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09160" y="777240"/>
            <a:ext cx="91440" cy="1207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73752" y="85039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💥  Failures Are Expected, Not Exceptional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73752" y="1161288"/>
            <a:ext cx="3931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EF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Without error handling, one failed server crashes the whole balancer. Try/except retry logic is the minimum required safeguard.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09160" y="2148840"/>
            <a:ext cx="4206240" cy="1207008"/>
          </a:xfrm>
          <a:prstGeom prst="rect">
            <a:avLst/>
          </a:prstGeom>
          <a:solidFill>
            <a:srgbClr val="1F3563"/>
          </a:solidFill>
          <a:ln w="12700">
            <a:solidFill>
              <a:srgbClr val="2A458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2148840"/>
            <a:ext cx="91440" cy="1207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73752" y="222199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Fault Tolerance = Graceful Degradation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73752" y="2532888"/>
            <a:ext cx="3931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EF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Step 14 showed that with proper retry logic, the system continues serving users even when servers go down.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09160" y="3520440"/>
            <a:ext cx="4206240" cy="1207008"/>
          </a:xfrm>
          <a:prstGeom prst="rect">
            <a:avLst/>
          </a:prstGeom>
          <a:solidFill>
            <a:srgbClr val="2A1515"/>
          </a:solidFill>
          <a:ln w="12700">
            <a:solidFill>
              <a:srgbClr val="5C202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09160" y="3520440"/>
            <a:ext cx="91440" cy="120700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73752" y="359359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Challenges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73752" y="3913632"/>
            <a:ext cx="3931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EF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Managing multiple terminal windows simultaneously.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EEF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Debugging silent hangs when a downed server had no error message </a:t>
            </a:r>
            <a:r>
              <a:rPr lang="en-US" sz="950" dirty="0" smtClean="0">
                <a:solidFill>
                  <a:srgbClr val="E8EEF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</a:t>
            </a:r>
            <a:r>
              <a:rPr lang="en-US" sz="950" dirty="0">
                <a:solidFill>
                  <a:srgbClr val="E8EEF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led directly to adding timeout=1 and retry logic in Step 14.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4 – Load Balancing &amp; Scaling on Local Machine  |  EIU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1072</Words>
  <Application>Microsoft Office PowerPoint</Application>
  <PresentationFormat>On-screen Show (16:9)</PresentationFormat>
  <Paragraphs>190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Assignment 4 – Load Balancing &amp; Scaling</dc:title>
  <dc:subject>PptxGenJS Presentation</dc:subject>
  <dc:creator>PptxGenJS</dc:creator>
  <cp:lastModifiedBy>Hưng Phạm Trần Gia</cp:lastModifiedBy>
  <cp:revision>2</cp:revision>
  <dcterms:created xsi:type="dcterms:W3CDTF">2026-05-05T01:38:55Z</dcterms:created>
  <dcterms:modified xsi:type="dcterms:W3CDTF">2026-05-05T01:42:34Z</dcterms:modified>
</cp:coreProperties>
</file>