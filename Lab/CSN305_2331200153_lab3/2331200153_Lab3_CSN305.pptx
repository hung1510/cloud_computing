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B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54864" cy="5070348"/>
          </a:xfrm>
          <a:prstGeom prst="rect">
            <a:avLst/>
          </a:prstGeom>
          <a:solidFill>
            <a:srgbClr val="2B5BA8"/>
          </a:solidFill>
          <a:ln w="12700">
            <a:solidFill>
              <a:srgbClr val="2B5BA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0" y="914400"/>
            <a:ext cx="1828800" cy="822960"/>
          </a:xfrm>
          <a:prstGeom prst="rect">
            <a:avLst>
              <a:gd name="adj" fmla="val 5556"/>
            </a:avLst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0" y="91440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6583680" y="1755648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Web Services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20040" y="1005840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 3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320040" y="1463040"/>
            <a:ext cx="6217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Phạm Trần Gia Hưng – 2331200153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20040" y="1920240"/>
            <a:ext cx="62179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with Amazon</a:t>
            </a:r>
            <a:endParaRPr lang="en-US" sz="4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Services</a:t>
            </a:r>
            <a:endParaRPr lang="en-US" sz="4000" dirty="0"/>
          </a:p>
        </p:txBody>
      </p:sp>
      <p:sp>
        <p:nvSpPr>
          <p:cNvPr id="10" name="Shape 8"/>
          <p:cNvSpPr/>
          <p:nvPr/>
        </p:nvSpPr>
        <p:spPr>
          <a:xfrm>
            <a:off x="320040" y="3840480"/>
            <a:ext cx="6217920" cy="914"/>
          </a:xfrm>
          <a:prstGeom prst="rect">
            <a:avLst/>
          </a:prstGeom>
          <a:solidFill>
            <a:srgbClr val="2B5BA8"/>
          </a:solidFill>
          <a:ln w="12700">
            <a:solidFill>
              <a:srgbClr val="2B5BA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" y="3931920"/>
            <a:ext cx="6217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Course: Cloud Computing   |   Lecturer: Rohit Kumar Kasera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 Overview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41148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60120"/>
            <a:ext cx="64008" cy="169164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05156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11480" y="132588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EBS &amp; EFS Storage Lab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11480" y="1645920"/>
            <a:ext cx="3886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Create, attach, format, mount EBS volumes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snapshots &amp; restore data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7: Storage Lab – AWS Academy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09160" y="960120"/>
            <a:ext cx="41148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09160" y="960120"/>
            <a:ext cx="64008" cy="169164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46320" y="105156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846320" y="132588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 Static Website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846320" y="1645920"/>
            <a:ext cx="3886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S3 bucket, upload index.html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 static website hosting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bucket policy for public access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74320" y="2834640"/>
            <a:ext cx="41148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74320" y="2834640"/>
            <a:ext cx="64008" cy="169164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1480" y="292608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11480" y="320040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Reflection Questions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11480" y="3520440"/>
            <a:ext cx="3886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EBS persistence vs instance store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Snapshots, storage management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 hosting concepts &amp; IAM Roles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709160" y="2834640"/>
            <a:ext cx="41148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09160" y="2834640"/>
            <a:ext cx="64008" cy="169164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46320" y="292608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4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846320" y="320040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Lessons Learned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4846320" y="3520440"/>
            <a:ext cx="3886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encountered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 from hands-on lab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storage service differences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 3 – Working with Amazon Storage Services  |  EIU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2B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1 – Working with EBS &amp; Shared Storage (EFS)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65836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7: Storage Lab  ·  AWS Academy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74320" y="1051560"/>
            <a:ext cx="2651760" cy="1554480"/>
          </a:xfrm>
          <a:prstGeom prst="rect">
            <a:avLst/>
          </a:prstGeom>
          <a:solidFill>
            <a:srgbClr val="243352"/>
          </a:solidFill>
          <a:ln w="12700">
            <a:solidFill>
              <a:srgbClr val="2B5BA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84048" y="1161288"/>
            <a:ext cx="384048" cy="384048"/>
          </a:xfrm>
          <a:prstGeom prst="ellipse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11612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41248" y="1179576"/>
            <a:ext cx="19933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EBS Volume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84048" y="1600200"/>
            <a:ext cx="24688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gp2 · 1 GiB · same AZ as EC2 instance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Tagged as 'My Volume'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108960" y="1051560"/>
            <a:ext cx="2651760" cy="1554480"/>
          </a:xfrm>
          <a:prstGeom prst="rect">
            <a:avLst/>
          </a:prstGeom>
          <a:solidFill>
            <a:srgbClr val="243352"/>
          </a:solidFill>
          <a:ln w="12700">
            <a:solidFill>
              <a:srgbClr val="2B5BA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18688" y="1161288"/>
            <a:ext cx="384048" cy="384048"/>
          </a:xfrm>
          <a:prstGeom prst="ellipse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18688" y="11612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675888" y="1179576"/>
            <a:ext cx="19933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Attach to EC2 Instance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218688" y="1600200"/>
            <a:ext cx="24688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Attach to Lab instance via /dev/sdb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state becomes In-use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943600" y="1051560"/>
            <a:ext cx="2651760" cy="1554480"/>
          </a:xfrm>
          <a:prstGeom prst="rect">
            <a:avLst/>
          </a:prstGeom>
          <a:solidFill>
            <a:srgbClr val="243352"/>
          </a:solidFill>
          <a:ln w="12700">
            <a:solidFill>
              <a:srgbClr val="2B5BA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053328" y="1161288"/>
            <a:ext cx="384048" cy="384048"/>
          </a:xfrm>
          <a:prstGeom prst="ellipse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53328" y="11612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510528" y="1179576"/>
            <a:ext cx="19933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 &amp; Mount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053328" y="1600200"/>
            <a:ext cx="24688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mkfs ext3 → mkdir /mnt/data-store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Mount + auto-mount entry in /etc/fstab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1691640" y="3017520"/>
            <a:ext cx="2651760" cy="1554480"/>
          </a:xfrm>
          <a:prstGeom prst="rect">
            <a:avLst/>
          </a:prstGeom>
          <a:solidFill>
            <a:srgbClr val="243352"/>
          </a:solidFill>
          <a:ln w="12700">
            <a:solidFill>
              <a:srgbClr val="2B5BA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801368" y="3127248"/>
            <a:ext cx="384048" cy="384048"/>
          </a:xfrm>
          <a:prstGeom prst="ellipse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801368" y="31272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2258568" y="3145536"/>
            <a:ext cx="19933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File &amp; Snapshot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801368" y="3566160"/>
            <a:ext cx="24688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file.txt → Create snapshot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Tagged 'My Snapshot' in S3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526280" y="3017520"/>
            <a:ext cx="2651760" cy="1554480"/>
          </a:xfrm>
          <a:prstGeom prst="rect">
            <a:avLst/>
          </a:prstGeom>
          <a:solidFill>
            <a:srgbClr val="243352"/>
          </a:solidFill>
          <a:ln w="12700">
            <a:solidFill>
              <a:srgbClr val="2B5BA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636008" y="3127248"/>
            <a:ext cx="384048" cy="384048"/>
          </a:xfrm>
          <a:prstGeom prst="ellipse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636008" y="31272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093208" y="3145536"/>
            <a:ext cx="19933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&amp; Restore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636008" y="3566160"/>
            <a:ext cx="24688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file.txt → Restore from snapshot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'Restored Volume' → reattach &amp; verify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 3 – Working with Amazon Storage Services  |  EIU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1 – Create &amp; Attach EBS Volume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612648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7: Storage Lab  ·  AWS Academy</a:t>
            </a:r>
            <a:endParaRPr lang="en-US" sz="1100" dirty="0"/>
          </a:p>
        </p:txBody>
      </p:sp>
      <p:pic>
        <p:nvPicPr>
          <p:cNvPr id="5" name="Image 0" descr="/home/claude/lab3_imgs/img_28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74320" y="960120"/>
            <a:ext cx="4206240" cy="17373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74320" y="2715768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EC2 Instance – Running</a:t>
            </a:r>
            <a:endParaRPr lang="en-US" sz="1000" dirty="0"/>
          </a:p>
        </p:txBody>
      </p:sp>
      <p:pic>
        <p:nvPicPr>
          <p:cNvPr id="7" name="Image 1" descr="/home/claude/lab3_imgs/img_50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663440" y="960120"/>
            <a:ext cx="4206240" cy="173736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663440" y="2715768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Volume – gp2, 1 GiB</a:t>
            </a:r>
            <a:endParaRPr lang="en-US" sz="1000" dirty="0"/>
          </a:p>
        </p:txBody>
      </p:sp>
      <p:pic>
        <p:nvPicPr>
          <p:cNvPr id="9" name="Image 2" descr="/home/claude/lab3_imgs/img_06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274320" y="3108960"/>
            <a:ext cx="8595360" cy="160020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274320" y="4709160"/>
            <a:ext cx="8595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Successfully Attached to EC2 Instance</a:t>
            </a:r>
            <a:endParaRPr lang="en-US" sz="1000" dirty="0"/>
          </a:p>
        </p:txBody>
      </p:sp>
      <p:sp>
        <p:nvSpPr>
          <p:cNvPr id="11" name="Text 6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 3 – Working with Amazon Storage Services  |  EIU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1 – Format, Mount &amp; Write Data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612648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7: Storage Lab  ·  AWS Academy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4023360" cy="3200400"/>
          </a:xfrm>
          <a:prstGeom prst="rect">
            <a:avLst/>
          </a:prstGeom>
          <a:solidFill>
            <a:srgbClr val="1E1E2E"/>
          </a:solidFill>
          <a:ln w="12700">
            <a:solidFill>
              <a:srgbClr val="2B5BA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005840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99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Commands Used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65760" y="1353312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ABB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df -h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365760" y="169164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sudo mkfs -t ext3 /dev/sdb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365760" y="2029968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sudo mkdir /mnt/data-store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365760" y="2368296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sudo mount /dev/sdb /mnt/data-store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365760" y="2706624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8D9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echo ... &gt;&gt; /etc/fstab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365760" y="3044952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ABB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df -h   # verify mount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365760" y="338328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8D9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sudo sh -c "echo some text..."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8D9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&gt; /mnt/data-store/file.txt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365760" y="3721608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ABB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cat /mnt/data-store/file.txt</a:t>
            </a:r>
            <a:endParaRPr lang="en-US" sz="950" dirty="0"/>
          </a:p>
        </p:txBody>
      </p:sp>
      <p:pic>
        <p:nvPicPr>
          <p:cNvPr id="15" name="Image 0" descr="/home/claude/lab3_imgs/img_66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0" y="960120"/>
            <a:ext cx="4297680" cy="1600200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4572000" y="2578608"/>
            <a:ext cx="4297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 -h output – /dev/xvdb mounted at /mnt/data-store</a:t>
            </a:r>
            <a:endParaRPr lang="en-US" sz="950" dirty="0"/>
          </a:p>
        </p:txBody>
      </p:sp>
      <p:pic>
        <p:nvPicPr>
          <p:cNvPr id="17" name="Image 1" descr="/home/claude/lab3_imgs/img_10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572000" y="2926080"/>
            <a:ext cx="4297680" cy="123444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4572000" y="4169664"/>
            <a:ext cx="4297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file.txt → verify → delete</a:t>
            </a:r>
            <a:endParaRPr lang="en-US" sz="950" dirty="0"/>
          </a:p>
        </p:txBody>
      </p:sp>
      <p:sp>
        <p:nvSpPr>
          <p:cNvPr id="19" name="Text 15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 3 – Working with Amazon Storage Services  |  EIU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1 – Snapshot Creation &amp; Volume Restore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612648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7: Storage Lab  ·  AWS Academy</a:t>
            </a:r>
            <a:endParaRPr lang="en-US" sz="1100" dirty="0"/>
          </a:p>
        </p:txBody>
      </p:sp>
      <p:pic>
        <p:nvPicPr>
          <p:cNvPr id="5" name="Image 0" descr="/home/claude/lab3_imgs/img_09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74320" y="960120"/>
            <a:ext cx="4114800" cy="13258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74320" y="2304288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Volume selected → Create Snapshot</a:t>
            </a:r>
            <a:endParaRPr lang="en-US" sz="950" dirty="0"/>
          </a:p>
        </p:txBody>
      </p:sp>
      <p:pic>
        <p:nvPicPr>
          <p:cNvPr id="7" name="Image 1" descr="/home/claude/lab3_imgs/img_11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663440" y="960120"/>
            <a:ext cx="4114800" cy="132588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663440" y="2304288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Volume from Snapshot</a:t>
            </a:r>
            <a:endParaRPr lang="en-US" sz="950" dirty="0"/>
          </a:p>
        </p:txBody>
      </p:sp>
      <p:pic>
        <p:nvPicPr>
          <p:cNvPr id="9" name="Image 2" descr="/home/claude/lab3_imgs/img_03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274320" y="2697480"/>
            <a:ext cx="4114800" cy="160020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274320" y="4315968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Attach Restored Volume → /dev/sdc</a:t>
            </a:r>
            <a:endParaRPr lang="en-US" sz="950" dirty="0"/>
          </a:p>
        </p:txBody>
      </p:sp>
      <p:pic>
        <p:nvPicPr>
          <p:cNvPr id="11" name="Image 3" descr="/home/claude/lab3_imgs/img_24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4663440" y="2697480"/>
            <a:ext cx="4114800" cy="118872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4663440" y="3904488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Volumes – Restored Volume Attached</a:t>
            </a:r>
            <a:endParaRPr lang="en-US" sz="950" dirty="0"/>
          </a:p>
        </p:txBody>
      </p:sp>
      <p:pic>
        <p:nvPicPr>
          <p:cNvPr id="13" name="Image 4" descr="/home/claude/lab3_imgs/img_12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4663440" y="4206240"/>
            <a:ext cx="4114800" cy="548640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4663440" y="4773168"/>
            <a:ext cx="41148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Restored Volume – in-use</a:t>
            </a:r>
            <a:endParaRPr lang="en-US" sz="950" dirty="0"/>
          </a:p>
        </p:txBody>
      </p:sp>
      <p:sp>
        <p:nvSpPr>
          <p:cNvPr id="15" name="Text 8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 3 – Working with Amazon Storage Services  |  EIU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2B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2 – Create S3 Bucket &amp; Publish Static Webpage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365760" y="65836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Sandbox Environment  ·  AWS Academy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74320" y="1051560"/>
            <a:ext cx="2651760" cy="1554480"/>
          </a:xfrm>
          <a:prstGeom prst="rect">
            <a:avLst/>
          </a:prstGeom>
          <a:solidFill>
            <a:srgbClr val="243352"/>
          </a:solidFill>
          <a:ln w="12700">
            <a:solidFill>
              <a:srgbClr val="2B5BA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84048" y="1161288"/>
            <a:ext cx="384048" cy="384048"/>
          </a:xfrm>
          <a:prstGeom prst="ellipse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11612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41248" y="1179576"/>
            <a:ext cx="19933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S3 Bucket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84048" y="1600200"/>
            <a:ext cx="24688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name (giahung1510)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Region: us-east-1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Disable Block all public access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108960" y="1051560"/>
            <a:ext cx="2651760" cy="1554480"/>
          </a:xfrm>
          <a:prstGeom prst="rect">
            <a:avLst/>
          </a:prstGeom>
          <a:solidFill>
            <a:srgbClr val="243352"/>
          </a:solidFill>
          <a:ln w="12700">
            <a:solidFill>
              <a:srgbClr val="2B5BA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18688" y="1161288"/>
            <a:ext cx="384048" cy="384048"/>
          </a:xfrm>
          <a:prstGeom prst="ellipse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18688" y="11612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675888" y="1179576"/>
            <a:ext cx="19933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index.html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218688" y="1600200"/>
            <a:ext cx="24688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Upload → Add files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provided index.html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upload complete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943600" y="1051560"/>
            <a:ext cx="2651760" cy="1554480"/>
          </a:xfrm>
          <a:prstGeom prst="rect">
            <a:avLst/>
          </a:prstGeom>
          <a:solidFill>
            <a:srgbClr val="243352"/>
          </a:solidFill>
          <a:ln w="12700">
            <a:solidFill>
              <a:srgbClr val="2B5BA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053328" y="1161288"/>
            <a:ext cx="384048" cy="384048"/>
          </a:xfrm>
          <a:prstGeom prst="ellipse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53328" y="11612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510528" y="1179576"/>
            <a:ext cx="19933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Static Hosting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053328" y="1600200"/>
            <a:ext cx="24688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Properties → Static website hosting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→ Host a static website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 document: index.html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1691640" y="3017520"/>
            <a:ext cx="2651760" cy="1554480"/>
          </a:xfrm>
          <a:prstGeom prst="rect">
            <a:avLst/>
          </a:prstGeom>
          <a:solidFill>
            <a:srgbClr val="243352"/>
          </a:solidFill>
          <a:ln w="12700">
            <a:solidFill>
              <a:srgbClr val="2B5BA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801368" y="3127248"/>
            <a:ext cx="384048" cy="384048"/>
          </a:xfrm>
          <a:prstGeom prst="ellipse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801368" y="31272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2258568" y="3145536"/>
            <a:ext cx="19933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Bucket Policy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801368" y="3566160"/>
            <a:ext cx="24688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Permissions → Bucket Policy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s3:GetObject Allow policy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Principal: * (public)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526280" y="3017520"/>
            <a:ext cx="2651760" cy="1554480"/>
          </a:xfrm>
          <a:prstGeom prst="rect">
            <a:avLst/>
          </a:prstGeom>
          <a:solidFill>
            <a:srgbClr val="243352"/>
          </a:solidFill>
          <a:ln w="12700">
            <a:solidFill>
              <a:srgbClr val="2B5BA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636008" y="3127248"/>
            <a:ext cx="384048" cy="384048"/>
          </a:xfrm>
          <a:prstGeom prst="ellipse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636008" y="31272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093208" y="3145536"/>
            <a:ext cx="19933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the Website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636008" y="3566160"/>
            <a:ext cx="24688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 Endpoint URL from Properties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Paste in browser → verify page loads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bucket after completion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 3 – Working with Amazon Storage Services  |  EIU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2 – S3 Bucket Setup &amp; Public Access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612648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Sandbox Environment  ·  AWS Academy</a:t>
            </a:r>
            <a:endParaRPr lang="en-US" sz="1100" dirty="0"/>
          </a:p>
        </p:txBody>
      </p:sp>
      <p:pic>
        <p:nvPicPr>
          <p:cNvPr id="5" name="Image 0" descr="/home/claude/lab3_imgs/img_13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74320" y="960120"/>
            <a:ext cx="8595360" cy="13716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74320" y="2350008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Navigate to Amazon S3 Console</a:t>
            </a:r>
            <a:endParaRPr lang="en-US" sz="1000" dirty="0"/>
          </a:p>
        </p:txBody>
      </p:sp>
      <p:pic>
        <p:nvPicPr>
          <p:cNvPr id="7" name="Image 1" descr="/home/claude/lab3_imgs/img_49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274320" y="2697480"/>
            <a:ext cx="8595360" cy="192024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274320" y="4636008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Uncheck 'Block all public access' and acknowledge the warning</a:t>
            </a:r>
            <a:endParaRPr lang="en-US" sz="1000" dirty="0"/>
          </a:p>
        </p:txBody>
      </p:sp>
      <p:sp>
        <p:nvSpPr>
          <p:cNvPr id="9" name="Text 5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 3 – Working with Amazon Storage Services  |  EIU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2 – Static Hosting &amp; Bucket Policy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612648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Sandbox Environment  ·  AWS Academy</a:t>
            </a:r>
            <a:endParaRPr lang="en-US" sz="1100" dirty="0"/>
          </a:p>
        </p:txBody>
      </p:sp>
      <p:pic>
        <p:nvPicPr>
          <p:cNvPr id="5" name="Image 0" descr="/home/claude/lab3_imgs/img_04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74320" y="960120"/>
            <a:ext cx="4846320" cy="13716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74320" y="2350008"/>
            <a:ext cx="4846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Website Hosting → Enable</a:t>
            </a:r>
            <a:endParaRPr lang="en-US" sz="1000" dirty="0"/>
          </a:p>
        </p:txBody>
      </p:sp>
      <p:pic>
        <p:nvPicPr>
          <p:cNvPr id="7" name="Image 1" descr="/home/claude/lab3_imgs/img_39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303520" y="960120"/>
            <a:ext cx="3566160" cy="13716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303520" y="2350008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EC2 – Session Manager Connected</a:t>
            </a:r>
            <a:endParaRPr lang="en-US" sz="1000" dirty="0"/>
          </a:p>
        </p:txBody>
      </p:sp>
      <p:pic>
        <p:nvPicPr>
          <p:cNvPr id="9" name="Image 2" descr="/home/claude/lab3_imgs/img_65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274320" y="2697480"/>
            <a:ext cx="3840480" cy="210312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274320" y="4818888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Bucket Policy – s3:GetObject Allow (*)</a:t>
            </a:r>
            <a:endParaRPr lang="en-US" sz="1000" dirty="0"/>
          </a:p>
        </p:txBody>
      </p:sp>
      <p:sp>
        <p:nvSpPr>
          <p:cNvPr id="11" name="Shape 6"/>
          <p:cNvSpPr/>
          <p:nvPr/>
        </p:nvSpPr>
        <p:spPr>
          <a:xfrm>
            <a:off x="4572000" y="2697480"/>
            <a:ext cx="4297680" cy="2103120"/>
          </a:xfrm>
          <a:prstGeom prst="rect">
            <a:avLst/>
          </a:prstGeom>
          <a:solidFill>
            <a:srgbClr val="1E1E2E"/>
          </a:solidFill>
          <a:ln w="12700">
            <a:solidFill>
              <a:srgbClr val="2B5BA8"/>
            </a:solidFill>
            <a:prstDash val="solid"/>
          </a:ln>
        </p:spPr>
      </p:sp>
      <p:sp>
        <p:nvSpPr>
          <p:cNvPr id="12" name="Text 7"/>
          <p:cNvSpPr/>
          <p:nvPr/>
        </p:nvSpPr>
        <p:spPr>
          <a:xfrm>
            <a:off x="4617720" y="2743200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99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Bucket Policy (JSON)</a:t>
            </a:r>
            <a:endParaRPr lang="en-US" sz="1100" dirty="0"/>
          </a:p>
        </p:txBody>
      </p:sp>
      <p:sp>
        <p:nvSpPr>
          <p:cNvPr id="13" name="Text 8"/>
          <p:cNvSpPr/>
          <p:nvPr/>
        </p:nvSpPr>
        <p:spPr>
          <a:xfrm>
            <a:off x="4617720" y="3035808"/>
            <a:ext cx="420624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98D9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9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98D9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"Version": "2012-10-17",</a:t>
            </a:r>
            <a:endParaRPr lang="en-US" sz="9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98D9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"Statement": [</a:t>
            </a:r>
            <a:endParaRPr lang="en-US" sz="9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98D9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</a:t>
            </a:r>
            <a:endParaRPr lang="en-US" sz="9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98D9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"Effect": "Allow",</a:t>
            </a:r>
            <a:endParaRPr lang="en-US" sz="9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98D9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"Principal": "*",</a:t>
            </a:r>
            <a:endParaRPr lang="en-US" sz="9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98D9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"Action": "s3:GetObject",</a:t>
            </a:r>
            <a:endParaRPr lang="en-US" sz="9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98D9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"Resource":</a:t>
            </a:r>
            <a:endParaRPr lang="en-US" sz="9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98D9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"arn:aws:s3:::giahung1510/*"</a:t>
            </a:r>
            <a:endParaRPr lang="en-US" sz="9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98D9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9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98D9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]</a:t>
            </a:r>
            <a:endParaRPr lang="en-US" sz="9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98D9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</p:txBody>
      </p:sp>
      <p:sp>
        <p:nvSpPr>
          <p:cNvPr id="14" name="Text 9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 3 – Working with Amazon Storage Services  |  EIU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3 – Reflection Questions (1–3)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859536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AEA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777240"/>
            <a:ext cx="64008" cy="132588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868680"/>
            <a:ext cx="8321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Q1: How does EBS provide persistent storage vs. EC2 default storage?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11480" y="1234440"/>
            <a:ext cx="8321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3A4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EC2 instance store is ephemeral — data is lost on stop/terminate. EBS is a separate, persistent volume that survives instance lifecycle events and can be reattached to another instance.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274320" y="2194560"/>
            <a:ext cx="859536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AEA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4320" y="2194560"/>
            <a:ext cx="64008" cy="132588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2286000"/>
            <a:ext cx="8321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Q2: What is the importance of snapshots in EBS?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11480" y="2651760"/>
            <a:ext cx="8321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3A4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Snapshots are point-in-time backups stored in S3. They allow restoring a volume after accidental deletion or corruption, and can be used to create new volumes or copy data across regions.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274320" y="3611880"/>
            <a:ext cx="859536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AEA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74320" y="3611880"/>
            <a:ext cx="64008" cy="132588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3703320"/>
            <a:ext cx="8321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Q3: What did you learn about managing storage (attach, detach, reuse)?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11480" y="4069080"/>
            <a:ext cx="8321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3A4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EBS volumes can be attached, formatted, and mounted like a regular disk. They can be detached and reattached to different instances without data loss — making them reusable and instance-independent.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 3 – Working with Amazon Storage Services  |  EIU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3 – Reflection Questions (4–7)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749808"/>
            <a:ext cx="859536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AEA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749808"/>
            <a:ext cx="64008" cy="987552"/>
          </a:xfrm>
          <a:prstGeom prst="rect">
            <a:avLst/>
          </a:prstGeom>
          <a:solidFill>
            <a:srgbClr val="2B5BA8"/>
          </a:solidFill>
          <a:ln w="12700">
            <a:solidFill>
              <a:srgbClr val="2B5BA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822960"/>
            <a:ext cx="83210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Q4: Why must 'Block all public access' be disabled for S3 static website?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411480" y="1143000"/>
            <a:ext cx="8321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A4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 blocks all public access by default. A static website needs files accessible over the internet. Disabling this setting allows the bucket policy to grant public read access.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74320" y="1801368"/>
            <a:ext cx="859536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AEA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4320" y="1801368"/>
            <a:ext cx="64008" cy="987552"/>
          </a:xfrm>
          <a:prstGeom prst="rect">
            <a:avLst/>
          </a:prstGeom>
          <a:solidFill>
            <a:srgbClr val="2B5BA8"/>
          </a:solidFill>
          <a:ln w="12700">
            <a:solidFill>
              <a:srgbClr val="2B5BA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1874520"/>
            <a:ext cx="83210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Q5: What is the role of the index.html file?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11480" y="2194560"/>
            <a:ext cx="8321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A4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index.html is the default entry point (homepage) of the static website. When a visitor accesses the website URL without specifying a file, S3 automatically serves index.html.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74320" y="2852928"/>
            <a:ext cx="859536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AEA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74320" y="2852928"/>
            <a:ext cx="64008" cy="987552"/>
          </a:xfrm>
          <a:prstGeom prst="rect">
            <a:avLst/>
          </a:prstGeom>
          <a:solidFill>
            <a:srgbClr val="2B5BA8"/>
          </a:solidFill>
          <a:ln w="12700">
            <a:solidFill>
              <a:srgbClr val="2B5BA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2926080"/>
            <a:ext cx="83210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Q6: Why is a bucket policy required even after uploading files?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411480" y="3246120"/>
            <a:ext cx="8321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A4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Uploading files only stores them — it does not make them public. A bucket policy explicitly grants s3:GetObject permission. Without it, all public requests are denied.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74320" y="3904488"/>
            <a:ext cx="859536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AEA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74320" y="3904488"/>
            <a:ext cx="64008" cy="987552"/>
          </a:xfrm>
          <a:prstGeom prst="rect">
            <a:avLst/>
          </a:prstGeom>
          <a:solidFill>
            <a:srgbClr val="2B5BA8"/>
          </a:solidFill>
          <a:ln w="12700">
            <a:solidFill>
              <a:srgbClr val="2B5BA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1480" y="3977640"/>
            <a:ext cx="83210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Q7: Why is an AWS IAM Role needed for secure S3 access?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411480" y="4297680"/>
            <a:ext cx="8321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A4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IAM Roles allow EC2 instances to access S3 without hardcoded credentials. The instance assumes a role with least-privilege permissions, using temporary credentials — eliminating credential leak risks.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 3 – Working with Amazon Storage Services  |  EIU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2B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Lessons Learned &amp; Challenges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804672"/>
            <a:ext cx="2651760" cy="1828800"/>
          </a:xfrm>
          <a:prstGeom prst="rect">
            <a:avLst/>
          </a:prstGeom>
          <a:solidFill>
            <a:srgbClr val="243352"/>
          </a:solidFill>
          <a:ln w="12700">
            <a:solidFill>
              <a:srgbClr val="2B5BA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84048" y="914400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EBS vs Instance Store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84048" y="1307592"/>
            <a:ext cx="2450592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Learned the critical difference between persistent EBS volumes and ephemeral instance store — EBS data survives instance stop/restart.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127248" y="804672"/>
            <a:ext cx="2651760" cy="1828800"/>
          </a:xfrm>
          <a:prstGeom prst="rect">
            <a:avLst/>
          </a:prstGeom>
          <a:solidFill>
            <a:srgbClr val="243352"/>
          </a:solidFill>
          <a:ln w="12700">
            <a:solidFill>
              <a:srgbClr val="2B5BA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36976" y="914400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📸  Snapshot-Based Recovery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236976" y="1307592"/>
            <a:ext cx="2450592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Snapshots are not just backups — they enable full volume restoration, cross-AZ copies, and repeatable provisioning workflows.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980176" y="804672"/>
            <a:ext cx="2651760" cy="1828800"/>
          </a:xfrm>
          <a:prstGeom prst="rect">
            <a:avLst/>
          </a:prstGeom>
          <a:solidFill>
            <a:srgbClr val="243352"/>
          </a:solidFill>
          <a:ln w="12700">
            <a:solidFill>
              <a:srgbClr val="2B5BA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089904" y="914400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🪣  S3 Permissions Model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089904" y="1307592"/>
            <a:ext cx="2450592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Understood that uploading files and making them public are separate steps — a bucket policy is always required for public access.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1691640" y="3017520"/>
            <a:ext cx="2651760" cy="1828800"/>
          </a:xfrm>
          <a:prstGeom prst="rect">
            <a:avLst/>
          </a:prstGeom>
          <a:solidFill>
            <a:srgbClr val="243352"/>
          </a:solidFill>
          <a:ln w="12700">
            <a:solidFill>
              <a:srgbClr val="2B5BA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801368" y="3127248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🔐  IAM Roles over Credentials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801368" y="3520440"/>
            <a:ext cx="2450592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IAM Roles on EC2 is more secure than embedding access keys. Temporary credentials and least-privilege reduce attack surface.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544568" y="3017520"/>
            <a:ext cx="2651760" cy="1828800"/>
          </a:xfrm>
          <a:prstGeom prst="rect">
            <a:avLst/>
          </a:prstGeom>
          <a:solidFill>
            <a:srgbClr val="243352"/>
          </a:solidFill>
          <a:ln w="12700">
            <a:solidFill>
              <a:srgbClr val="2B5BA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54296" y="3127248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Challenges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654296" y="3520440"/>
            <a:ext cx="2450592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Ensuring the correct Availability Zone when creating EBS volumes matched the EC2 instance. Remembering to delete the S3 bucket after the lab to avoid costs.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 3 – Working with Amazon Storage Services  |  EIU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A2B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2B5BA8"/>
          </a:solidFill>
          <a:ln w="12700">
            <a:solidFill>
              <a:srgbClr val="2B5BA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28016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914400" y="233172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 3 – Working with Amazon Storage Services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200400" y="2880360"/>
            <a:ext cx="2743200" cy="36576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306324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400" b="1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Phạm Trần Gia Hưng</a:t>
            </a:r>
            <a:endParaRPr lang="en-US" sz="14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ID: 2331200153</a:t>
            </a:r>
            <a:endParaRPr lang="en-US" sz="14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Course: Cloud Computing  |  EIU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749040" y="4069080"/>
            <a:ext cx="1645920" cy="685800"/>
          </a:xfrm>
          <a:prstGeom prst="rect">
            <a:avLst>
              <a:gd name="adj" fmla="val 6667"/>
            </a:avLst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749040" y="406908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</a:t>
            </a:r>
            <a:endParaRPr lang="en-US" sz="2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Assignment 3 – Working with Amazon Storage Services</dc:title>
  <dc:subject>PptxGenJS Presentation</dc:subject>
  <dc:creator>Pham Tran Gia Hung</dc:creator>
  <cp:lastModifiedBy>Pham Tran Gia Hung</cp:lastModifiedBy>
  <cp:revision>1</cp:revision>
  <dcterms:created xsi:type="dcterms:W3CDTF">2026-04-23T09:12:54Z</dcterms:created>
  <dcterms:modified xsi:type="dcterms:W3CDTF">2026-04-23T09:12:54Z</dcterms:modified>
</cp:coreProperties>
</file>